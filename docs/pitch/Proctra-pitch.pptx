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1573bb4-1b7f-396c-569f-2db1209d9f42}">
          <p14:sldIdLst>
            <p14:sldId id="256"/>
          </p14:sldIdLst>
        </p14:section>
        <p14:section name="Problem &amp; users" id="{b167488e-d484-6ca2-21dc-016f15654598}">
          <p14:sldIdLst>
            <p14:sldId id="257"/>
            <p14:sldId id="258"/>
          </p14:sldIdLst>
        </p14:section>
        <p14:section name="Solution" id="{75957ac4-8191-1ae5-b9a5-a6e7bfba2625}">
          <p14:sldIdLst>
            <p14:sldId id="259"/>
            <p14:sldId id="260"/>
            <p14:sldId id="261"/>
          </p14:sldIdLst>
        </p14:section>
        <p14:section name="Build &amp; results" id="{d7d074a5-3615-ae5c-e9d8-5fe2c74e030e}">
          <p14:sldIdLst>
            <p14:sldId id="262"/>
            <p14:sldId id="263"/>
          </p14:sldIdLst>
        </p14:section>
        <p14:section name="Impact" id="{92bcf373-1f71-bc9d-eaa2-ba0789461331}">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172A"/>
                </a:solidFill>
                <a:latin typeface="+mn-lt"/>
              </a:defRPr>
            </a:pPr>
            <a:r>
              <a:rPr sz="1300" b="0" i="0" u="none" strike="noStrike">
                <a:solidFill>
                  <a:srgbClr val="0F172A"/>
                </a:solidFill>
                <a:latin typeface="+mn-lt"/>
              </a:rPr>
              <a:t>Silence before the interviewer speaks (median, seconds)</a:t>
            </a:r>
          </a:p>
        </c:rich>
      </c:tx>
      <c:layout/>
      <c:overlay val="0"/>
    </c:title>
    <c:autoTitleDeleted val="0"/>
    <c:plotArea>
      <c:layout/>
      <c:barChart>
        <c:barDir val="bar"/>
        <c:grouping val="clustered"/>
        <c:varyColors val="0"/>
        <c:ser>
          <c:idx val="0"/>
          <c:order val="0"/>
          <c:tx>
            <c:strRef>
              <c:f>Sheet1!$B$1</c:f>
              <c:strCache>
                <c:ptCount val="1"/>
                <c:pt idx="0">
                  <c:v>Median seconds</c:v>
                </c:pt>
              </c:strCache>
            </c:strRef>
          </c:tx>
          <c:spPr>
            <a:solidFill>
              <a:srgbClr val="4F46E5"/>
            </a:solidFill>
            <a:effectLst/>
          </c:spPr>
          <c:invertIfNegative val="0"/>
          <c:dLbls>
            <c:numFmt formatCode="#,##0"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cat>
            <c:multiLvlStrRef>
              <c:f>Sheet1!$A$2:$A$3</c:f>
              <c:multiLvlStrCache>
                <c:ptCount val="2"/>
                <c:lvl>
                  <c:pt idx="0">
                    <c:v>Before: voice on page thread</c:v>
                  </c:pt>
                  <c:pt idx="1">
                    <c:v>After: voice in a Web Worker</c:v>
                  </c:pt>
                </c:lvl>
              </c:multiLvlStrCache>
            </c:multiLvlStrRef>
          </c:cat>
          <c:val>
            <c:numRef>
              <c:f>Sheet1!$B$2:$B$3</c:f>
              <c:numCache>
                <c:formatCode>General</c:formatCode>
                <c:ptCount val="2"/>
                <c:pt idx="0">
                  <c:v>28.1</c:v>
                </c:pt>
                <c:pt idx="1">
                  <c:v>13.3</c:v>
                </c:pt>
              </c:numCache>
            </c:numRef>
          </c:val>
        </c:ser>
        <c:dLbls>
          <c:numFmt formatCode="#,##0"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75569"/>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Proctra is an AI video-interview agent. It runs a real voice interview tailored to the job and the candidate's resume, records camera, screen and a phone side-view, and hands the recruiter an evidence-backed review. The AI never decides who gets hired.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Gartner's survey of about 3,000 candidates found 6% admitted interview fraud, and Gartner forecasts that by 2028 one in four candidate profiles could be fake. A 2025 Blind survey found one in five professionals secretly used AI during interviews. SHRM's 2025 benchmarks put time-to-fill at about 44 days and cost per hire at about $5,475.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Existing tools pick one piece: async video has no conversation, exam proctoring auto-fails people, and phone screens don't scale. Nobody combines an adaptive interview, integrity evidence and explainable scores while keeping a human in charge.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Proctra plans questions from the job description and resume, runs the voice interview, records three streams, and evaluates with verified quotes. Proctoring is shown to the recruiter as observations but is never used in scoring.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Perception (MediaPipe, COCO-SSD) and the fallback voice (Kokoro in a Web Worker) run in the candidate's browser. Next.js on Vercel holds the server-authoritative interview engine, speech and proctoring APIs and the background evaluator. Supabase stores data with row-level security and private storage; Groq runs the language and speech models. No model training; the context is the job description plus the parsed resume.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Recruiter: create job, add candidate and resume, approve the AI blueprint, send the link. Candidate: consent, camera and face check, sound check, phone pairing, screen share, then the voice interview. Proctra evaluates in the background; the recruiter reviews and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runs on free tiers with Apache/MIT components. The biggest challenge was the on-device voice blocking the page; moving it to a Web Worker cut the silence from about 25 s to 5–10 s on follow-ups.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numbers on this slide are measured from automated end-to-end runs against the real stack. Evaluation takes about 11–30 s and 8.5k–11.8k Groq tokens per three-question interview. User testing with real candidates has not happened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Impact figures are expectations, not measurements. The cost figure is measured token usage; prices depend on the provider tier. Next we add a TURN relay and run a pilot with real recruiting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31520"/>
          </a:xfrm>
          <a:prstGeom prst="rect">
            <a:avLst/>
          </a:prstGeom>
          <a:noFill/>
          <a:ln/>
        </p:spPr>
        <p:txBody>
          <a:bodyPr wrap="square" rtlCol="0"/>
          <a:lstStyle>
            <a:lvl1pPr indent="0" marL="0">
              <a:buNone/>
              <a:defRPr lang="en-US" sz="3000" b="1" dirty="0">
                <a:solidFill>
                  <a:schemeClr val="tx1"/>
                </a:solidFill>
              </a:defRPr>
            </a:lvl1pPr>
          </a:lstStyle>
          <a:p>
            <a:pPr indent="0" marL="0">
              <a:buNone/>
            </a:pPr>
            <a:endParaRPr lang="en-US" sz="3000" dirty="0"/>
          </a:p>
        </p:txBody>
      </p:sp>
      <p:sp>
        <p:nvSpPr>
          <p:cNvPr id="3" name="Text 0"/>
          <p:cNvSpPr/>
          <p:nvPr/>
        </p:nvSpPr>
        <p:spPr>
          <a:xfrm>
            <a:off x="548640" y="6419088"/>
            <a:ext cx="2743200" cy="274320"/>
          </a:xfrm>
          <a:prstGeom prst="rect">
            <a:avLst/>
          </a:prstGeom>
          <a:noFill/>
          <a:ln/>
        </p:spPr>
        <p:txBody>
          <a:bodyPr wrap="square" lIns="0" tIns="0" rIns="0" bIns="0" rtlCol="0" anchor="ctr"/>
          <a:lstStyle/>
          <a:p>
            <a:pPr indent="0" marL="0">
              <a:buNone/>
            </a:pPr>
            <a:r>
              <a:rPr lang="en-US" sz="1000" dirty="0">
                <a:solidFill>
                  <a:schemeClr val="tx2"/>
                </a:solidFill>
              </a:rPr>
              <a:t>Proctra</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jpg"/><Relationship Id="rId3" Type="http://schemas.openxmlformats.org/officeDocument/2006/relationships/image" Target="../media/image-6-3.jp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1" descr="Proctra logo: Your Interview Assistant">    </p:cNvPr>
          <p:cNvPicPr>
            <a:picLocks noChangeAspect="1"/>
          </p:cNvPicPr>
          <p:nvPr/>
        </p:nvPicPr>
        <p:blipFill>
          <a:blip r:embed="rId1"/>
          <a:stretch>
            <a:fillRect/>
          </a:stretch>
        </p:blipFill>
        <p:spPr>
          <a:xfrm>
            <a:off x="594360" y="685800"/>
            <a:ext cx="3566160" cy="802386"/>
          </a:xfrm>
          <a:prstGeom prst="rect">
            <a:avLst/>
          </a:prstGeom>
        </p:spPr>
      </p:pic>
      <p:sp>
        <p:nvSpPr>
          <p:cNvPr id="3" name="text-2"/>
          <p:cNvSpPr txBox="1"/>
          <p:nvPr/>
        </p:nvSpPr>
        <p:spPr>
          <a:xfrm>
            <a:off x="640080" y="1874520"/>
            <a:ext cx="5577840" cy="1325880"/>
          </a:xfrm>
          <a:prstGeom prst="rect">
            <a:avLst/>
          </a:prstGeom>
          <a:noFill/>
          <a:ln/>
        </p:spPr>
        <p:txBody>
          <a:bodyPr wrap="square" lIns="0" tIns="0" rIns="0" bIns="0" rtlCol="0" anchor="t"/>
          <a:lstStyle/>
          <a:p>
            <a:pPr indent="0" marL="0">
              <a:buNone/>
            </a:pPr>
            <a:r>
              <a:rPr lang="en-US" sz="4000" b="1" dirty="0">
                <a:solidFill>
                  <a:schemeClr val="tx1"/>
                </a:solidFill>
                <a:latin typeface="Arial" pitchFamily="34" charset="0"/>
                <a:ea typeface="Arial" pitchFamily="34" charset="-122"/>
                <a:cs typeface="Arial" pitchFamily="34" charset="-120"/>
              </a:rPr>
              <a:t>AI interviews, human decisions</a:t>
            </a:r>
            <a:endParaRPr lang="en-US" sz="4000" dirty="0"/>
          </a:p>
        </p:txBody>
      </p:sp>
      <p:sp>
        <p:nvSpPr>
          <p:cNvPr id="4" name="text-3"/>
          <p:cNvSpPr txBox="1"/>
          <p:nvPr/>
        </p:nvSpPr>
        <p:spPr>
          <a:xfrm>
            <a:off x="640080" y="3291840"/>
            <a:ext cx="5394960" cy="960120"/>
          </a:xfrm>
          <a:prstGeom prst="rect">
            <a:avLst/>
          </a:prstGeom>
          <a:noFill/>
          <a:ln/>
        </p:spPr>
        <p:txBody>
          <a:bodyPr wrap="square" lIns="0" tIns="0" rIns="0" bIns="0" rtlCol="0" anchor="t"/>
          <a:lstStyle/>
          <a:p>
            <a:pPr indent="0" marL="0">
              <a:buNone/>
            </a:pPr>
            <a:r>
              <a:rPr lang="en-US" sz="1600" dirty="0">
                <a:solidFill>
                  <a:schemeClr val="tx2"/>
                </a:solidFill>
              </a:rPr>
              <a:t>An AI voice interviewer with dual-camera, browser-side proctoring. Every score is backed by evidence; every hiring decision is made by a person.</a:t>
            </a:r>
            <a:endParaRPr lang="en-US" sz="1600" dirty="0"/>
          </a:p>
        </p:txBody>
      </p:sp>
      <p:sp>
        <p:nvSpPr>
          <p:cNvPr id="5" name="text-4"/>
          <p:cNvSpPr txBox="1"/>
          <p:nvPr/>
        </p:nvSpPr>
        <p:spPr>
          <a:xfrm>
            <a:off x="640080" y="4526280"/>
            <a:ext cx="274320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TEAM</a:t>
            </a:r>
            <a:endParaRPr lang="en-US" sz="1100" dirty="0"/>
          </a:p>
        </p:txBody>
      </p:sp>
      <p:sp>
        <p:nvSpPr>
          <p:cNvPr id="6" name="text-5"/>
          <p:cNvSpPr txBox="1"/>
          <p:nvPr/>
        </p:nvSpPr>
        <p:spPr>
          <a:xfrm>
            <a:off x="640080" y="4828032"/>
            <a:ext cx="5394960" cy="411480"/>
          </a:xfrm>
          <a:prstGeom prst="rect">
            <a:avLst/>
          </a:prstGeom>
          <a:noFill/>
          <a:ln/>
        </p:spPr>
        <p:txBody>
          <a:bodyPr wrap="square" lIns="0" tIns="0" rIns="0" bIns="0" rtlCol="0" anchor="t"/>
          <a:lstStyle/>
          <a:p>
            <a:pPr indent="0" marL="0">
              <a:buNone/>
            </a:pPr>
            <a:r>
              <a:rPr lang="en-US" sz="2200" b="1" dirty="0">
                <a:solidFill>
                  <a:schemeClr val="tx1"/>
                </a:solidFill>
              </a:rPr>
              <a:t>[Team name]</a:t>
            </a:r>
            <a:endParaRPr lang="en-US" sz="2200" dirty="0"/>
          </a:p>
        </p:txBody>
      </p:sp>
      <p:sp>
        <p:nvSpPr>
          <p:cNvPr id="7" name="text-6"/>
          <p:cNvSpPr txBox="1"/>
          <p:nvPr/>
        </p:nvSpPr>
        <p:spPr>
          <a:xfrm>
            <a:off x="640080" y="5303520"/>
            <a:ext cx="5394960" cy="320040"/>
          </a:xfrm>
          <a:prstGeom prst="rect">
            <a:avLst/>
          </a:prstGeom>
          <a:noFill/>
          <a:ln/>
        </p:spPr>
        <p:txBody>
          <a:bodyPr wrap="square" lIns="0" tIns="0" rIns="0" bIns="0" rtlCol="0" anchor="t"/>
          <a:lstStyle/>
          <a:p>
            <a:pPr indent="0" marL="0">
              <a:buNone/>
            </a:pPr>
            <a:r>
              <a:rPr lang="en-US" sz="1500" dirty="0">
                <a:solidFill>
                  <a:schemeClr val="tx2"/>
                </a:solidFill>
              </a:rPr>
              <a:t>[Member 1] · [Member 2] · [Member 3] · [Member 4]</a:t>
            </a:r>
            <a:endParaRPr lang="en-US" sz="1500" dirty="0"/>
          </a:p>
        </p:txBody>
      </p:sp>
      <p:sp>
        <p:nvSpPr>
          <p:cNvPr id="8" name="text-7"/>
          <p:cNvSpPr txBox="1"/>
          <p:nvPr/>
        </p:nvSpPr>
        <p:spPr>
          <a:xfrm>
            <a:off x="640080" y="5989320"/>
            <a:ext cx="5394960" cy="320040"/>
          </a:xfrm>
          <a:prstGeom prst="rect">
            <a:avLst/>
          </a:prstGeom>
          <a:noFill/>
          <a:ln/>
        </p:spPr>
        <p:txBody>
          <a:bodyPr wrap="square" lIns="0" tIns="0" rIns="0" bIns="0" rtlCol="0" anchor="t"/>
          <a:lstStyle/>
          <a:p>
            <a:pPr indent="0" marL="0">
              <a:buNone/>
            </a:pPr>
            <a:r>
              <a:rPr lang="en-US" sz="1400" b="1" dirty="0">
                <a:solidFill>
                  <a:schemeClr val="accent1"/>
                </a:solidFill>
              </a:rPr>
              <a:t>Live demo: proctra-two.vercel.app</a:t>
            </a:r>
            <a:endParaRPr lang="en-US" sz="1400" dirty="0"/>
          </a:p>
        </p:txBody>
      </p:sp>
      <p:sp>
        <p:nvSpPr>
          <p:cNvPr id="9" name="frame-8"/>
          <p:cNvSpPr/>
          <p:nvPr/>
        </p:nvSpPr>
        <p:spPr>
          <a:xfrm>
            <a:off x="6400800" y="1234440"/>
            <a:ext cx="5239512" cy="3274695"/>
          </a:xfrm>
          <a:prstGeom prst="rect">
            <a:avLst/>
          </a:prstGeom>
          <a:solidFill>
            <a:schemeClr val="bg1"/>
          </a:solidFill>
          <a:ln w="9525">
            <a:solidFill>
              <a:schemeClr val="accent5"/>
            </a:solidFill>
            <a:prstDash val="solid"/>
          </a:ln>
          <a:effectLst>
            <a:outerShdw sx="100000" sy="100000" kx="0" ky="0" algn="bl" rotWithShape="0" blurRad="76200" dist="25400" dir="5400000">
              <a:srgbClr val="0F172A">
                <a:alpha val="12000"/>
              </a:srgbClr>
            </a:outerShdw>
          </a:effectLst>
        </p:spPr>
      </p:sp>
      <p:pic>
        <p:nvPicPr>
          <p:cNvPr id="10" name="shot-9" descr="Proctra live interview: the AI interviewer asks a question while the candidate's camera and phone side-view are shown">    </p:cNvPr>
          <p:cNvPicPr>
            <a:picLocks noChangeAspect="1"/>
          </p:cNvPicPr>
          <p:nvPr/>
        </p:nvPicPr>
        <p:blipFill>
          <a:blip r:embed="rId2"/>
          <a:stretch>
            <a:fillRect/>
          </a:stretch>
        </p:blipFill>
        <p:spPr>
          <a:xfrm>
            <a:off x="6400800" y="1234440"/>
            <a:ext cx="5239512" cy="3274695"/>
          </a:xfrm>
          <a:prstGeom prst="rect">
            <a:avLst/>
          </a:prstGeom>
        </p:spPr>
      </p:pic>
      <p:sp>
        <p:nvSpPr>
          <p:cNvPr id="11" name="text-10"/>
          <p:cNvSpPr txBox="1"/>
          <p:nvPr/>
        </p:nvSpPr>
        <p:spPr>
          <a:xfrm>
            <a:off x="6400800" y="4572000"/>
            <a:ext cx="5239512" cy="292608"/>
          </a:xfrm>
          <a:prstGeom prst="rect">
            <a:avLst/>
          </a:prstGeom>
          <a:noFill/>
          <a:ln/>
        </p:spPr>
        <p:txBody>
          <a:bodyPr wrap="square" lIns="0" tIns="0" rIns="0" bIns="0" rtlCol="0" anchor="t"/>
          <a:lstStyle/>
          <a:p>
            <a:pPr indent="0" marL="0">
              <a:buNone/>
            </a:pPr>
            <a:r>
              <a:rPr lang="en-US" sz="1100" dirty="0">
                <a:solidFill>
                  <a:schemeClr val="tx2"/>
                </a:solidFill>
              </a:rPr>
              <a:t>Live interview: the AI asks while camera and phone views stay on screen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31520"/>
          </a:xfrm>
          <a:prstGeom prst="rect">
            <a:avLst/>
          </a:prstGeom>
          <a:noFill/>
          <a:ln/>
        </p:spPr>
        <p:txBody>
          <a:bodyPr wrap="square" lIns="0" tIns="0" rIns="0" bIns="0" rtlCol="0" anchor="ctr"/>
          <a:lstStyle/>
          <a:p>
            <a:pPr indent="0" marL="0">
              <a:buNone/>
            </a:pPr>
            <a:r>
              <a:rPr lang="en-US" sz="3000" b="1" dirty="0">
                <a:solidFill>
                  <a:schemeClr val="tx1"/>
                </a:solidFill>
              </a:rPr>
              <a:t>Remote hiring can't trust what it sees, or scale screening</a:t>
            </a:r>
            <a:endParaRPr lang="en-US" sz="3000" dirty="0"/>
          </a:p>
        </p:txBody>
      </p:sp>
      <p:sp>
        <p:nvSpPr>
          <p:cNvPr id="3" name="text-11"/>
          <p:cNvSpPr txBox="1"/>
          <p:nvPr/>
        </p:nvSpPr>
        <p:spPr>
          <a:xfrm>
            <a:off x="548640" y="1417320"/>
            <a:ext cx="5029200" cy="365760"/>
          </a:xfrm>
          <a:prstGeom prst="rect">
            <a:avLst/>
          </a:prstGeom>
          <a:noFill/>
          <a:ln/>
        </p:spPr>
        <p:txBody>
          <a:bodyPr wrap="square" lIns="0" tIns="0" rIns="0" bIns="0" rtlCol="0" anchor="t"/>
          <a:lstStyle/>
          <a:p>
            <a:pPr indent="0" marL="0">
              <a:buNone/>
            </a:pPr>
            <a:r>
              <a:rPr lang="en-US" sz="1800" b="1" dirty="0">
                <a:solidFill>
                  <a:schemeClr val="tx1"/>
                </a:solidFill>
              </a:rPr>
              <a:t>Who experiences it</a:t>
            </a:r>
            <a:endParaRPr lang="en-US" sz="1800" dirty="0"/>
          </a:p>
        </p:txBody>
      </p:sp>
      <p:sp>
        <p:nvSpPr>
          <p:cNvPr id="4" name="text-12"/>
          <p:cNvSpPr txBox="1"/>
          <p:nvPr/>
        </p:nvSpPr>
        <p:spPr>
          <a:xfrm>
            <a:off x="548640" y="1828800"/>
            <a:ext cx="5029200" cy="914400"/>
          </a:xfrm>
          <a:prstGeom prst="rect">
            <a:avLst/>
          </a:prstGeom>
          <a:noFill/>
          <a:ln/>
        </p:spPr>
        <p:txBody>
          <a:bodyPr wrap="square" lIns="0" tIns="0" rIns="0" bIns="0" rtlCol="0" anchor="t"/>
          <a:lstStyle/>
          <a:p>
            <a:pPr indent="0" marL="0">
              <a:buNone/>
            </a:pPr>
            <a:r>
              <a:rPr lang="en-US" sz="1500" dirty="0">
                <a:solidFill>
                  <a:schemeClr val="tx1"/>
                </a:solidFill>
              </a:rPr>
              <a:t>Recruiters and hiring managers running remote first-round interviews, and the candidates stuck in slow, inconsistent screens.</a:t>
            </a:r>
            <a:endParaRPr lang="en-US" sz="1500" dirty="0"/>
          </a:p>
        </p:txBody>
      </p:sp>
      <p:sp>
        <p:nvSpPr>
          <p:cNvPr id="5" name="text-13"/>
          <p:cNvSpPr txBox="1"/>
          <p:nvPr/>
        </p:nvSpPr>
        <p:spPr>
          <a:xfrm>
            <a:off x="548640" y="2971800"/>
            <a:ext cx="5029200" cy="365760"/>
          </a:xfrm>
          <a:prstGeom prst="rect">
            <a:avLst/>
          </a:prstGeom>
          <a:noFill/>
          <a:ln/>
        </p:spPr>
        <p:txBody>
          <a:bodyPr wrap="square" lIns="0" tIns="0" rIns="0" bIns="0" rtlCol="0" anchor="t"/>
          <a:lstStyle/>
          <a:p>
            <a:pPr indent="0" marL="0">
              <a:buNone/>
            </a:pPr>
            <a:r>
              <a:rPr lang="en-US" sz="1800" b="1" dirty="0">
                <a:solidFill>
                  <a:schemeClr val="tx1"/>
                </a:solidFill>
              </a:rPr>
              <a:t>Why it matters</a:t>
            </a:r>
            <a:endParaRPr lang="en-US" sz="1800" dirty="0"/>
          </a:p>
        </p:txBody>
      </p:sp>
      <p:sp>
        <p:nvSpPr>
          <p:cNvPr id="6" name="text-14"/>
          <p:cNvSpPr txBox="1"/>
          <p:nvPr/>
        </p:nvSpPr>
        <p:spPr>
          <a:xfrm>
            <a:off x="548640" y="3383280"/>
            <a:ext cx="5029200" cy="21031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First rounds are the slowest, costliest part of hiring.</a:t>
            </a:r>
            <a:endParaRPr lang="en-US" sz="1500" dirty="0"/>
          </a:p>
          <a:p>
            <a:pPr marL="342900" indent="-342900">
              <a:spcAft>
                <a:spcPts val="800"/>
              </a:spcAft>
              <a:buSzPct val="100000"/>
              <a:buChar char="•"/>
            </a:pPr>
            <a:r>
              <a:rPr lang="en-US" sz="1500" dirty="0">
                <a:solidFill>
                  <a:schemeClr val="tx1"/>
                </a:solidFill>
              </a:rPr>
              <a:t>AI tools make scripted or impersonated answers cheap; 59% of hiring managers suspected a candidate of AI misrepresentation (Checkr).</a:t>
            </a:r>
            <a:endParaRPr lang="en-US" sz="1500" dirty="0"/>
          </a:p>
          <a:p>
            <a:pPr marL="342900" indent="-342900">
              <a:spcAft>
                <a:spcPts val="800"/>
              </a:spcAft>
              <a:buSzPct val="100000"/>
              <a:buChar char="•"/>
            </a:pPr>
            <a:r>
              <a:rPr lang="en-US" sz="1500" dirty="0">
                <a:solidFill>
                  <a:schemeClr val="tx1"/>
                </a:solidFill>
              </a:rPr>
              <a:t>Teams either over-trust what they see or spend hours re-checking it.</a:t>
            </a:r>
            <a:endParaRPr lang="en-US" sz="1500" dirty="0"/>
          </a:p>
        </p:txBody>
      </p:sp>
      <p:sp>
        <p:nvSpPr>
          <p:cNvPr id="7" name="card-15"/>
          <p:cNvSpPr/>
          <p:nvPr/>
        </p:nvSpPr>
        <p:spPr>
          <a:xfrm>
            <a:off x="6172200" y="1417320"/>
            <a:ext cx="2651760" cy="2148840"/>
          </a:xfrm>
          <a:prstGeom prst="roundRect">
            <a:avLst>
              <a:gd name="adj" fmla="val 5106"/>
            </a:avLst>
          </a:prstGeom>
          <a:solidFill>
            <a:schemeClr val="bg2"/>
          </a:solidFill>
          <a:ln w="12700">
            <a:solidFill>
              <a:schemeClr val="bg2"/>
            </a:solidFill>
            <a:prstDash val="solid"/>
          </a:ln>
        </p:spPr>
      </p:sp>
      <p:sp>
        <p:nvSpPr>
          <p:cNvPr id="8" name="text-16"/>
          <p:cNvSpPr txBox="1"/>
          <p:nvPr/>
        </p:nvSpPr>
        <p:spPr>
          <a:xfrm>
            <a:off x="6400800" y="1645920"/>
            <a:ext cx="2194560" cy="685800"/>
          </a:xfrm>
          <a:prstGeom prst="rect">
            <a:avLst/>
          </a:prstGeom>
          <a:noFill/>
          <a:ln/>
        </p:spPr>
        <p:txBody>
          <a:bodyPr wrap="square" lIns="0" tIns="0" rIns="0" bIns="0" rtlCol="0" anchor="t"/>
          <a:lstStyle/>
          <a:p>
            <a:pPr indent="0" marL="0">
              <a:buNone/>
            </a:pPr>
            <a:r>
              <a:rPr lang="en-US" sz="3600" b="1" dirty="0">
                <a:solidFill>
                  <a:schemeClr val="accent1"/>
                </a:solidFill>
              </a:rPr>
              <a:t>6%</a:t>
            </a:r>
            <a:endParaRPr lang="en-US" sz="3600" dirty="0"/>
          </a:p>
        </p:txBody>
      </p:sp>
      <p:sp>
        <p:nvSpPr>
          <p:cNvPr id="9" name="text-17"/>
          <p:cNvSpPr txBox="1"/>
          <p:nvPr/>
        </p:nvSpPr>
        <p:spPr>
          <a:xfrm>
            <a:off x="6400800" y="2377440"/>
            <a:ext cx="2240280" cy="685800"/>
          </a:xfrm>
          <a:prstGeom prst="rect">
            <a:avLst/>
          </a:prstGeom>
          <a:noFill/>
          <a:ln/>
        </p:spPr>
        <p:txBody>
          <a:bodyPr wrap="square" lIns="0" tIns="0" rIns="0" bIns="0" rtlCol="0" anchor="t"/>
          <a:lstStyle/>
          <a:p>
            <a:pPr indent="0" marL="0">
              <a:buNone/>
            </a:pPr>
            <a:r>
              <a:rPr lang="en-US" sz="1400" dirty="0">
                <a:solidFill>
                  <a:schemeClr val="tx1"/>
                </a:solidFill>
              </a:rPr>
              <a:t>of ~3,000 candidates admitted to interview fraud</a:t>
            </a:r>
            <a:endParaRPr lang="en-US" sz="1400" dirty="0"/>
          </a:p>
        </p:txBody>
      </p:sp>
      <p:sp>
        <p:nvSpPr>
          <p:cNvPr id="10" name="text-18"/>
          <p:cNvSpPr txBox="1"/>
          <p:nvPr/>
        </p:nvSpPr>
        <p:spPr>
          <a:xfrm>
            <a:off x="6400800" y="3108960"/>
            <a:ext cx="2240280" cy="274320"/>
          </a:xfrm>
          <a:prstGeom prst="rect">
            <a:avLst/>
          </a:prstGeom>
          <a:noFill/>
          <a:ln/>
        </p:spPr>
        <p:txBody>
          <a:bodyPr wrap="square" lIns="0" tIns="0" rIns="0" bIns="0" rtlCol="0" anchor="t"/>
          <a:lstStyle/>
          <a:p>
            <a:pPr indent="0" marL="0">
              <a:buNone/>
            </a:pPr>
            <a:r>
              <a:rPr lang="en-US" sz="1000" dirty="0">
                <a:solidFill>
                  <a:schemeClr val="tx2"/>
                </a:solidFill>
              </a:rPr>
              <a:t>Gartner survey, via HR Dive (2025)</a:t>
            </a:r>
            <a:endParaRPr lang="en-US" sz="1000" dirty="0"/>
          </a:p>
        </p:txBody>
      </p:sp>
      <p:sp>
        <p:nvSpPr>
          <p:cNvPr id="11" name="card-19"/>
          <p:cNvSpPr/>
          <p:nvPr/>
        </p:nvSpPr>
        <p:spPr>
          <a:xfrm>
            <a:off x="8961120" y="1417320"/>
            <a:ext cx="2651760" cy="2148840"/>
          </a:xfrm>
          <a:prstGeom prst="roundRect">
            <a:avLst>
              <a:gd name="adj" fmla="val 5106"/>
            </a:avLst>
          </a:prstGeom>
          <a:solidFill>
            <a:schemeClr val="bg2"/>
          </a:solidFill>
          <a:ln w="12700">
            <a:solidFill>
              <a:schemeClr val="bg2"/>
            </a:solidFill>
            <a:prstDash val="solid"/>
          </a:ln>
        </p:spPr>
      </p:sp>
      <p:sp>
        <p:nvSpPr>
          <p:cNvPr id="12" name="text-20"/>
          <p:cNvSpPr txBox="1"/>
          <p:nvPr/>
        </p:nvSpPr>
        <p:spPr>
          <a:xfrm>
            <a:off x="9189720" y="1645920"/>
            <a:ext cx="2194560" cy="685800"/>
          </a:xfrm>
          <a:prstGeom prst="rect">
            <a:avLst/>
          </a:prstGeom>
          <a:noFill/>
          <a:ln/>
        </p:spPr>
        <p:txBody>
          <a:bodyPr wrap="square" lIns="0" tIns="0" rIns="0" bIns="0" rtlCol="0" anchor="t"/>
          <a:lstStyle/>
          <a:p>
            <a:pPr indent="0" marL="0">
              <a:buNone/>
            </a:pPr>
            <a:r>
              <a:rPr lang="en-US" sz="3600" b="1" dirty="0">
                <a:solidFill>
                  <a:schemeClr val="accent1"/>
                </a:solidFill>
              </a:rPr>
              <a:t>1 in 4</a:t>
            </a:r>
            <a:endParaRPr lang="en-US" sz="3600" dirty="0"/>
          </a:p>
        </p:txBody>
      </p:sp>
      <p:sp>
        <p:nvSpPr>
          <p:cNvPr id="13" name="text-21"/>
          <p:cNvSpPr txBox="1"/>
          <p:nvPr/>
        </p:nvSpPr>
        <p:spPr>
          <a:xfrm>
            <a:off x="9189720" y="2377440"/>
            <a:ext cx="2240280" cy="685800"/>
          </a:xfrm>
          <a:prstGeom prst="rect">
            <a:avLst/>
          </a:prstGeom>
          <a:noFill/>
          <a:ln/>
        </p:spPr>
        <p:txBody>
          <a:bodyPr wrap="square" lIns="0" tIns="0" rIns="0" bIns="0" rtlCol="0" anchor="t"/>
          <a:lstStyle/>
          <a:p>
            <a:pPr indent="0" marL="0">
              <a:buNone/>
            </a:pPr>
            <a:r>
              <a:rPr lang="en-US" sz="1400" dirty="0">
                <a:solidFill>
                  <a:schemeClr val="tx1"/>
                </a:solidFill>
              </a:rPr>
              <a:t>candidate profiles could be fake by 2028 (forecast)</a:t>
            </a:r>
            <a:endParaRPr lang="en-US" sz="1400" dirty="0"/>
          </a:p>
        </p:txBody>
      </p:sp>
      <p:sp>
        <p:nvSpPr>
          <p:cNvPr id="14" name="text-22"/>
          <p:cNvSpPr txBox="1"/>
          <p:nvPr/>
        </p:nvSpPr>
        <p:spPr>
          <a:xfrm>
            <a:off x="9189720" y="3108960"/>
            <a:ext cx="2240280" cy="274320"/>
          </a:xfrm>
          <a:prstGeom prst="rect">
            <a:avLst/>
          </a:prstGeom>
          <a:noFill/>
          <a:ln/>
        </p:spPr>
        <p:txBody>
          <a:bodyPr wrap="square" lIns="0" tIns="0" rIns="0" bIns="0" rtlCol="0" anchor="t"/>
          <a:lstStyle/>
          <a:p>
            <a:pPr indent="0" marL="0">
              <a:buNone/>
            </a:pPr>
            <a:r>
              <a:rPr lang="en-US" sz="1000" dirty="0">
                <a:solidFill>
                  <a:schemeClr val="tx2"/>
                </a:solidFill>
              </a:rPr>
              <a:t>Gartner, via HR Dive (2025)</a:t>
            </a:r>
            <a:endParaRPr lang="en-US" sz="1000" dirty="0"/>
          </a:p>
        </p:txBody>
      </p:sp>
      <p:sp>
        <p:nvSpPr>
          <p:cNvPr id="15" name="card-23"/>
          <p:cNvSpPr/>
          <p:nvPr/>
        </p:nvSpPr>
        <p:spPr>
          <a:xfrm>
            <a:off x="6172200" y="3749040"/>
            <a:ext cx="2651760" cy="2148840"/>
          </a:xfrm>
          <a:prstGeom prst="roundRect">
            <a:avLst>
              <a:gd name="adj" fmla="val 5106"/>
            </a:avLst>
          </a:prstGeom>
          <a:solidFill>
            <a:schemeClr val="bg2"/>
          </a:solidFill>
          <a:ln w="12700">
            <a:solidFill>
              <a:schemeClr val="bg2"/>
            </a:solidFill>
            <a:prstDash val="solid"/>
          </a:ln>
        </p:spPr>
      </p:sp>
      <p:sp>
        <p:nvSpPr>
          <p:cNvPr id="16" name="text-24"/>
          <p:cNvSpPr txBox="1"/>
          <p:nvPr/>
        </p:nvSpPr>
        <p:spPr>
          <a:xfrm>
            <a:off x="6400800" y="3977640"/>
            <a:ext cx="2194560" cy="685800"/>
          </a:xfrm>
          <a:prstGeom prst="rect">
            <a:avLst/>
          </a:prstGeom>
          <a:noFill/>
          <a:ln/>
        </p:spPr>
        <p:txBody>
          <a:bodyPr wrap="square" lIns="0" tIns="0" rIns="0" bIns="0" rtlCol="0" anchor="t"/>
          <a:lstStyle/>
          <a:p>
            <a:pPr indent="0" marL="0">
              <a:buNone/>
            </a:pPr>
            <a:r>
              <a:rPr lang="en-US" sz="3600" b="1" dirty="0">
                <a:solidFill>
                  <a:schemeClr val="accent1"/>
                </a:solidFill>
              </a:rPr>
              <a:t>1 in 5</a:t>
            </a:r>
            <a:endParaRPr lang="en-US" sz="3600" dirty="0"/>
          </a:p>
        </p:txBody>
      </p:sp>
      <p:sp>
        <p:nvSpPr>
          <p:cNvPr id="17" name="text-25"/>
          <p:cNvSpPr txBox="1"/>
          <p:nvPr/>
        </p:nvSpPr>
        <p:spPr>
          <a:xfrm>
            <a:off x="6400800" y="4709160"/>
            <a:ext cx="2240280" cy="685800"/>
          </a:xfrm>
          <a:prstGeom prst="rect">
            <a:avLst/>
          </a:prstGeom>
          <a:noFill/>
          <a:ln/>
        </p:spPr>
        <p:txBody>
          <a:bodyPr wrap="square" lIns="0" tIns="0" rIns="0" bIns="0" rtlCol="0" anchor="t"/>
          <a:lstStyle/>
          <a:p>
            <a:pPr indent="0" marL="0">
              <a:buNone/>
            </a:pPr>
            <a:r>
              <a:rPr lang="en-US" sz="1400" dirty="0">
                <a:solidFill>
                  <a:schemeClr val="tx1"/>
                </a:solidFill>
              </a:rPr>
              <a:t>professionals admitted secretly using AI in interviews</a:t>
            </a:r>
            <a:endParaRPr lang="en-US" sz="1400" dirty="0"/>
          </a:p>
        </p:txBody>
      </p:sp>
      <p:sp>
        <p:nvSpPr>
          <p:cNvPr id="18" name="text-26"/>
          <p:cNvSpPr txBox="1"/>
          <p:nvPr/>
        </p:nvSpPr>
        <p:spPr>
          <a:xfrm>
            <a:off x="6400800" y="5440680"/>
            <a:ext cx="2240280" cy="274320"/>
          </a:xfrm>
          <a:prstGeom prst="rect">
            <a:avLst/>
          </a:prstGeom>
          <a:noFill/>
          <a:ln/>
        </p:spPr>
        <p:txBody>
          <a:bodyPr wrap="square" lIns="0" tIns="0" rIns="0" bIns="0" rtlCol="0" anchor="t"/>
          <a:lstStyle/>
          <a:p>
            <a:pPr indent="0" marL="0">
              <a:buNone/>
            </a:pPr>
            <a:r>
              <a:rPr lang="en-US" sz="1000" dirty="0">
                <a:solidFill>
                  <a:schemeClr val="tx2"/>
                </a:solidFill>
              </a:rPr>
              <a:t>Blind survey (2025)</a:t>
            </a:r>
            <a:endParaRPr lang="en-US" sz="1000" dirty="0"/>
          </a:p>
        </p:txBody>
      </p:sp>
      <p:sp>
        <p:nvSpPr>
          <p:cNvPr id="19" name="card-27"/>
          <p:cNvSpPr/>
          <p:nvPr/>
        </p:nvSpPr>
        <p:spPr>
          <a:xfrm>
            <a:off x="8961120" y="3749040"/>
            <a:ext cx="2651760" cy="2148840"/>
          </a:xfrm>
          <a:prstGeom prst="roundRect">
            <a:avLst>
              <a:gd name="adj" fmla="val 5106"/>
            </a:avLst>
          </a:prstGeom>
          <a:solidFill>
            <a:schemeClr val="bg2"/>
          </a:solidFill>
          <a:ln w="12700">
            <a:solidFill>
              <a:schemeClr val="bg2"/>
            </a:solidFill>
            <a:prstDash val="solid"/>
          </a:ln>
        </p:spPr>
      </p:sp>
      <p:sp>
        <p:nvSpPr>
          <p:cNvPr id="20" name="text-28"/>
          <p:cNvSpPr txBox="1"/>
          <p:nvPr/>
        </p:nvSpPr>
        <p:spPr>
          <a:xfrm>
            <a:off x="9189720" y="3977640"/>
            <a:ext cx="2194560" cy="685800"/>
          </a:xfrm>
          <a:prstGeom prst="rect">
            <a:avLst/>
          </a:prstGeom>
          <a:noFill/>
          <a:ln/>
        </p:spPr>
        <p:txBody>
          <a:bodyPr wrap="square" lIns="0" tIns="0" rIns="0" bIns="0" rtlCol="0" anchor="t"/>
          <a:lstStyle/>
          <a:p>
            <a:pPr indent="0" marL="0">
              <a:buNone/>
            </a:pPr>
            <a:r>
              <a:rPr lang="en-US" sz="3600" b="1" dirty="0">
                <a:solidFill>
                  <a:schemeClr val="accent1"/>
                </a:solidFill>
              </a:rPr>
              <a:t>44 days</a:t>
            </a:r>
            <a:endParaRPr lang="en-US" sz="3600" dirty="0"/>
          </a:p>
        </p:txBody>
      </p:sp>
      <p:sp>
        <p:nvSpPr>
          <p:cNvPr id="21" name="text-29"/>
          <p:cNvSpPr txBox="1"/>
          <p:nvPr/>
        </p:nvSpPr>
        <p:spPr>
          <a:xfrm>
            <a:off x="9189720" y="4709160"/>
            <a:ext cx="2240280" cy="685800"/>
          </a:xfrm>
          <a:prstGeom prst="rect">
            <a:avLst/>
          </a:prstGeom>
          <a:noFill/>
          <a:ln/>
        </p:spPr>
        <p:txBody>
          <a:bodyPr wrap="square" lIns="0" tIns="0" rIns="0" bIns="0" rtlCol="0" anchor="t"/>
          <a:lstStyle/>
          <a:p>
            <a:pPr indent="0" marL="0">
              <a:buNone/>
            </a:pPr>
            <a:r>
              <a:rPr lang="en-US" sz="1400" dirty="0">
                <a:solidFill>
                  <a:schemeClr val="tx1"/>
                </a:solidFill>
              </a:rPr>
              <a:t>median time to fill a role; about $5,475 per hire</a:t>
            </a:r>
            <a:endParaRPr lang="en-US" sz="1400" dirty="0"/>
          </a:p>
        </p:txBody>
      </p:sp>
      <p:sp>
        <p:nvSpPr>
          <p:cNvPr id="22" name="text-30"/>
          <p:cNvSpPr txBox="1"/>
          <p:nvPr/>
        </p:nvSpPr>
        <p:spPr>
          <a:xfrm>
            <a:off x="9189720" y="5440680"/>
            <a:ext cx="2240280" cy="274320"/>
          </a:xfrm>
          <a:prstGeom prst="rect">
            <a:avLst/>
          </a:prstGeom>
          <a:noFill/>
          <a:ln/>
        </p:spPr>
        <p:txBody>
          <a:bodyPr wrap="square" lIns="0" tIns="0" rIns="0" bIns="0" rtlCol="0" anchor="t"/>
          <a:lstStyle/>
          <a:p>
            <a:pPr indent="0" marL="0">
              <a:buNone/>
            </a:pPr>
            <a:r>
              <a:rPr lang="en-US" sz="1000" dirty="0">
                <a:solidFill>
                  <a:schemeClr val="tx2"/>
                </a:solidFill>
              </a:rPr>
              <a:t>SHRM 2025 benchmarks</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31520"/>
          </a:xfrm>
          <a:prstGeom prst="rect">
            <a:avLst/>
          </a:prstGeom>
          <a:noFill/>
          <a:ln/>
        </p:spPr>
        <p:txBody>
          <a:bodyPr wrap="square" lIns="0" tIns="0" rIns="0" bIns="0" rtlCol="0" anchor="ctr"/>
          <a:lstStyle/>
          <a:p>
            <a:pPr indent="0" marL="0">
              <a:buNone/>
            </a:pPr>
            <a:r>
              <a:rPr lang="en-US" sz="3000" b="1" dirty="0">
                <a:solidFill>
                  <a:schemeClr val="tx1"/>
                </a:solidFill>
              </a:rPr>
              <a:t>Who it's for, and what today's tools miss</a:t>
            </a:r>
            <a:endParaRPr lang="en-US" sz="3000" dirty="0"/>
          </a:p>
        </p:txBody>
      </p:sp>
      <p:sp>
        <p:nvSpPr>
          <p:cNvPr id="3" name="card-31"/>
          <p:cNvSpPr/>
          <p:nvPr/>
        </p:nvSpPr>
        <p:spPr>
          <a:xfrm>
            <a:off x="548640" y="1417320"/>
            <a:ext cx="3246120" cy="4663440"/>
          </a:xfrm>
          <a:prstGeom prst="roundRect">
            <a:avLst>
              <a:gd name="adj" fmla="val 3380"/>
            </a:avLst>
          </a:prstGeom>
          <a:solidFill>
            <a:schemeClr val="bg2"/>
          </a:solidFill>
          <a:ln w="12700">
            <a:solidFill>
              <a:schemeClr val="bg2"/>
            </a:solidFill>
            <a:prstDash val="solid"/>
          </a:ln>
        </p:spPr>
      </p:sp>
      <p:sp>
        <p:nvSpPr>
          <p:cNvPr id="4" name="text-32"/>
          <p:cNvSpPr txBox="1"/>
          <p:nvPr/>
        </p:nvSpPr>
        <p:spPr>
          <a:xfrm>
            <a:off x="822960" y="1645920"/>
            <a:ext cx="2743200" cy="365760"/>
          </a:xfrm>
          <a:prstGeom prst="rect">
            <a:avLst/>
          </a:prstGeom>
          <a:noFill/>
          <a:ln/>
        </p:spPr>
        <p:txBody>
          <a:bodyPr wrap="square" lIns="0" tIns="0" rIns="0" bIns="0" rtlCol="0" anchor="t"/>
          <a:lstStyle/>
          <a:p>
            <a:pPr indent="0" marL="0">
              <a:buNone/>
            </a:pPr>
            <a:r>
              <a:rPr lang="en-US" sz="1800" b="1" dirty="0">
                <a:solidFill>
                  <a:schemeClr val="tx1"/>
                </a:solidFill>
              </a:rPr>
              <a:t>Users &amp; stakeholders</a:t>
            </a:r>
            <a:endParaRPr lang="en-US" sz="1800" dirty="0"/>
          </a:p>
        </p:txBody>
      </p:sp>
      <p:sp>
        <p:nvSpPr>
          <p:cNvPr id="5" name="text-33"/>
          <p:cNvSpPr txBox="1"/>
          <p:nvPr/>
        </p:nvSpPr>
        <p:spPr>
          <a:xfrm>
            <a:off x="822960" y="2148840"/>
            <a:ext cx="2743200" cy="27432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Recruiters and talent teams (primary)</a:t>
            </a:r>
            <a:endParaRPr lang="en-US" sz="1500" dirty="0"/>
          </a:p>
          <a:p>
            <a:pPr marL="342900" indent="-342900">
              <a:spcAft>
                <a:spcPts val="1000"/>
              </a:spcAft>
              <a:buSzPct val="100000"/>
              <a:buChar char="•"/>
            </a:pPr>
            <a:r>
              <a:rPr lang="en-US" sz="1500" dirty="0">
                <a:solidFill>
                  <a:schemeClr val="tx1"/>
                </a:solidFill>
              </a:rPr>
              <a:t>Hiring managers</a:t>
            </a:r>
            <a:endParaRPr lang="en-US" sz="1500" dirty="0"/>
          </a:p>
          <a:p>
            <a:pPr marL="342900" indent="-342900">
              <a:spcAft>
                <a:spcPts val="1000"/>
              </a:spcAft>
              <a:buSzPct val="100000"/>
              <a:buChar char="•"/>
            </a:pPr>
            <a:r>
              <a:rPr lang="en-US" sz="1500" dirty="0">
                <a:solidFill>
                  <a:schemeClr val="tx1"/>
                </a:solidFill>
              </a:rPr>
              <a:t>Candidates</a:t>
            </a:r>
            <a:endParaRPr lang="en-US" sz="1500" dirty="0"/>
          </a:p>
          <a:p>
            <a:pPr marL="342900" indent="-342900">
              <a:spcAft>
                <a:spcPts val="1000"/>
              </a:spcAft>
              <a:buSzPct val="100000"/>
              <a:buChar char="•"/>
            </a:pPr>
            <a:r>
              <a:rPr lang="en-US" sz="1500" dirty="0">
                <a:solidFill>
                  <a:schemeClr val="tx1"/>
                </a:solidFill>
              </a:rPr>
              <a:t>Org admins, compliance and legal</a:t>
            </a:r>
            <a:endParaRPr lang="en-US" sz="1500" dirty="0"/>
          </a:p>
        </p:txBody>
      </p:sp>
      <p:sp>
        <p:nvSpPr>
          <p:cNvPr id="6" name="text-34"/>
          <p:cNvSpPr txBox="1"/>
          <p:nvPr/>
        </p:nvSpPr>
        <p:spPr>
          <a:xfrm>
            <a:off x="4114800" y="1645920"/>
            <a:ext cx="4114800" cy="365760"/>
          </a:xfrm>
          <a:prstGeom prst="rect">
            <a:avLst/>
          </a:prstGeom>
          <a:noFill/>
          <a:ln/>
        </p:spPr>
        <p:txBody>
          <a:bodyPr wrap="square" lIns="0" tIns="0" rIns="0" bIns="0" rtlCol="0" anchor="t"/>
          <a:lstStyle/>
          <a:p>
            <a:pPr indent="0" marL="0">
              <a:buNone/>
            </a:pPr>
            <a:r>
              <a:rPr lang="en-US" sz="1800" b="1" dirty="0">
                <a:solidFill>
                  <a:schemeClr val="tx1"/>
                </a:solidFill>
              </a:rPr>
              <a:t>Current solutions and their limits</a:t>
            </a:r>
            <a:endParaRPr lang="en-US" sz="1800" dirty="0"/>
          </a:p>
        </p:txBody>
      </p:sp>
      <p:sp>
        <p:nvSpPr>
          <p:cNvPr id="7" name="text-35"/>
          <p:cNvSpPr txBox="1"/>
          <p:nvPr/>
        </p:nvSpPr>
        <p:spPr>
          <a:xfrm>
            <a:off x="4114800" y="2148840"/>
            <a:ext cx="411480" cy="411480"/>
          </a:xfrm>
          <a:prstGeom prst="rect">
            <a:avLst/>
          </a:prstGeom>
          <a:noFill/>
          <a:ln/>
        </p:spPr>
        <p:txBody>
          <a:bodyPr wrap="square" lIns="0" tIns="0" rIns="0" bIns="0" rtlCol="0" anchor="t"/>
          <a:lstStyle/>
          <a:p>
            <a:pPr indent="0" marL="0">
              <a:buNone/>
            </a:pPr>
            <a:r>
              <a:rPr lang="en-US" sz="2000" b="1" dirty="0">
                <a:solidFill>
                  <a:schemeClr val="accent1"/>
                </a:solidFill>
              </a:rPr>
              <a:t>1</a:t>
            </a:r>
            <a:endParaRPr lang="en-US" sz="2000" dirty="0"/>
          </a:p>
        </p:txBody>
      </p:sp>
      <p:sp>
        <p:nvSpPr>
          <p:cNvPr id="8" name="text-36"/>
          <p:cNvSpPr txBox="1"/>
          <p:nvPr/>
        </p:nvSpPr>
        <p:spPr>
          <a:xfrm>
            <a:off x="4572000" y="2148840"/>
            <a:ext cx="3657600" cy="320040"/>
          </a:xfrm>
          <a:prstGeom prst="rect">
            <a:avLst/>
          </a:prstGeom>
          <a:noFill/>
          <a:ln/>
        </p:spPr>
        <p:txBody>
          <a:bodyPr wrap="square" lIns="0" tIns="0" rIns="0" bIns="0" rtlCol="0" anchor="t"/>
          <a:lstStyle/>
          <a:p>
            <a:pPr indent="0" marL="0">
              <a:buNone/>
            </a:pPr>
            <a:r>
              <a:rPr lang="en-US" sz="1500" b="1" dirty="0">
                <a:solidFill>
                  <a:schemeClr val="tx1"/>
                </a:solidFill>
              </a:rPr>
              <a:t>One-way video interviews</a:t>
            </a:r>
            <a:endParaRPr lang="en-US" sz="1500" dirty="0"/>
          </a:p>
        </p:txBody>
      </p:sp>
      <p:sp>
        <p:nvSpPr>
          <p:cNvPr id="9" name="text-37"/>
          <p:cNvSpPr txBox="1"/>
          <p:nvPr/>
        </p:nvSpPr>
        <p:spPr>
          <a:xfrm>
            <a:off x="4572000" y="2514600"/>
            <a:ext cx="3657600" cy="685800"/>
          </a:xfrm>
          <a:prstGeom prst="rect">
            <a:avLst/>
          </a:prstGeom>
          <a:noFill/>
          <a:ln/>
        </p:spPr>
        <p:txBody>
          <a:bodyPr wrap="square" lIns="0" tIns="0" rIns="0" bIns="0" rtlCol="0" anchor="t"/>
          <a:lstStyle/>
          <a:p>
            <a:pPr indent="0" marL="0">
              <a:buNone/>
            </a:pPr>
            <a:r>
              <a:rPr lang="en-US" sz="1400" dirty="0">
                <a:solidFill>
                  <a:schemeClr val="tx2"/>
                </a:solidFill>
              </a:rPr>
              <a:t>No real conversation or follow-ups; answers are easy to script with AI</a:t>
            </a:r>
            <a:endParaRPr lang="en-US" sz="1400" dirty="0"/>
          </a:p>
        </p:txBody>
      </p:sp>
      <p:sp>
        <p:nvSpPr>
          <p:cNvPr id="10" name="text-38"/>
          <p:cNvSpPr txBox="1"/>
          <p:nvPr/>
        </p:nvSpPr>
        <p:spPr>
          <a:xfrm>
            <a:off x="4114800" y="3429000"/>
            <a:ext cx="411480" cy="411480"/>
          </a:xfrm>
          <a:prstGeom prst="rect">
            <a:avLst/>
          </a:prstGeom>
          <a:noFill/>
          <a:ln/>
        </p:spPr>
        <p:txBody>
          <a:bodyPr wrap="square" lIns="0" tIns="0" rIns="0" bIns="0" rtlCol="0" anchor="t"/>
          <a:lstStyle/>
          <a:p>
            <a:pPr indent="0" marL="0">
              <a:buNone/>
            </a:pPr>
            <a:r>
              <a:rPr lang="en-US" sz="2000" b="1" dirty="0">
                <a:solidFill>
                  <a:schemeClr val="accent1"/>
                </a:solidFill>
              </a:rPr>
              <a:t>2</a:t>
            </a:r>
            <a:endParaRPr lang="en-US" sz="2000" dirty="0"/>
          </a:p>
        </p:txBody>
      </p:sp>
      <p:sp>
        <p:nvSpPr>
          <p:cNvPr id="11" name="text-39"/>
          <p:cNvSpPr txBox="1"/>
          <p:nvPr/>
        </p:nvSpPr>
        <p:spPr>
          <a:xfrm>
            <a:off x="4572000" y="3429000"/>
            <a:ext cx="3657600" cy="320040"/>
          </a:xfrm>
          <a:prstGeom prst="rect">
            <a:avLst/>
          </a:prstGeom>
          <a:noFill/>
          <a:ln/>
        </p:spPr>
        <p:txBody>
          <a:bodyPr wrap="square" lIns="0" tIns="0" rIns="0" bIns="0" rtlCol="0" anchor="t"/>
          <a:lstStyle/>
          <a:p>
            <a:pPr indent="0" marL="0">
              <a:buNone/>
            </a:pPr>
            <a:r>
              <a:rPr lang="en-US" sz="1500" b="1" dirty="0">
                <a:solidFill>
                  <a:schemeClr val="tx1"/>
                </a:solidFill>
              </a:rPr>
              <a:t>Exam-style proctoring tools</a:t>
            </a:r>
            <a:endParaRPr lang="en-US" sz="1500" dirty="0"/>
          </a:p>
        </p:txBody>
      </p:sp>
      <p:sp>
        <p:nvSpPr>
          <p:cNvPr id="12" name="text-40"/>
          <p:cNvSpPr txBox="1"/>
          <p:nvPr/>
        </p:nvSpPr>
        <p:spPr>
          <a:xfrm>
            <a:off x="4572000" y="3794760"/>
            <a:ext cx="3657600" cy="685800"/>
          </a:xfrm>
          <a:prstGeom prst="rect">
            <a:avLst/>
          </a:prstGeom>
          <a:noFill/>
          <a:ln/>
        </p:spPr>
        <p:txBody>
          <a:bodyPr wrap="square" lIns="0" tIns="0" rIns="0" bIns="0" rtlCol="0" anchor="t"/>
          <a:lstStyle/>
          <a:p>
            <a:pPr indent="0" marL="0">
              <a:buNone/>
            </a:pPr>
            <a:r>
              <a:rPr lang="en-US" sz="1400" dirty="0">
                <a:solidFill>
                  <a:schemeClr val="tx2"/>
                </a:solidFill>
              </a:rPr>
              <a:t>Built to auto-flag and auto-fail; one camera; opaque verdicts</a:t>
            </a:r>
            <a:endParaRPr lang="en-US" sz="1400" dirty="0"/>
          </a:p>
        </p:txBody>
      </p:sp>
      <p:sp>
        <p:nvSpPr>
          <p:cNvPr id="13" name="text-41"/>
          <p:cNvSpPr txBox="1"/>
          <p:nvPr/>
        </p:nvSpPr>
        <p:spPr>
          <a:xfrm>
            <a:off x="4114800" y="4709160"/>
            <a:ext cx="411480" cy="411480"/>
          </a:xfrm>
          <a:prstGeom prst="rect">
            <a:avLst/>
          </a:prstGeom>
          <a:noFill/>
          <a:ln/>
        </p:spPr>
        <p:txBody>
          <a:bodyPr wrap="square" lIns="0" tIns="0" rIns="0" bIns="0" rtlCol="0" anchor="t"/>
          <a:lstStyle/>
          <a:p>
            <a:pPr indent="0" marL="0">
              <a:buNone/>
            </a:pPr>
            <a:r>
              <a:rPr lang="en-US" sz="2000" b="1" dirty="0">
                <a:solidFill>
                  <a:schemeClr val="accent1"/>
                </a:solidFill>
              </a:rPr>
              <a:t>3</a:t>
            </a:r>
            <a:endParaRPr lang="en-US" sz="2000" dirty="0"/>
          </a:p>
        </p:txBody>
      </p:sp>
      <p:sp>
        <p:nvSpPr>
          <p:cNvPr id="14" name="text-42"/>
          <p:cNvSpPr txBox="1"/>
          <p:nvPr/>
        </p:nvSpPr>
        <p:spPr>
          <a:xfrm>
            <a:off x="4572000" y="4709160"/>
            <a:ext cx="3657600" cy="320040"/>
          </a:xfrm>
          <a:prstGeom prst="rect">
            <a:avLst/>
          </a:prstGeom>
          <a:noFill/>
          <a:ln/>
        </p:spPr>
        <p:txBody>
          <a:bodyPr wrap="square" lIns="0" tIns="0" rIns="0" bIns="0" rtlCol="0" anchor="t"/>
          <a:lstStyle/>
          <a:p>
            <a:pPr indent="0" marL="0">
              <a:buNone/>
            </a:pPr>
            <a:r>
              <a:rPr lang="en-US" sz="1500" b="1" dirty="0">
                <a:solidFill>
                  <a:schemeClr val="tx1"/>
                </a:solidFill>
              </a:rPr>
              <a:t>Human phone screens</a:t>
            </a:r>
            <a:endParaRPr lang="en-US" sz="1500" dirty="0"/>
          </a:p>
        </p:txBody>
      </p:sp>
      <p:sp>
        <p:nvSpPr>
          <p:cNvPr id="15" name="text-43"/>
          <p:cNvSpPr txBox="1"/>
          <p:nvPr/>
        </p:nvSpPr>
        <p:spPr>
          <a:xfrm>
            <a:off x="4572000" y="5074920"/>
            <a:ext cx="3657600" cy="685800"/>
          </a:xfrm>
          <a:prstGeom prst="rect">
            <a:avLst/>
          </a:prstGeom>
          <a:noFill/>
          <a:ln/>
        </p:spPr>
        <p:txBody>
          <a:bodyPr wrap="square" lIns="0" tIns="0" rIns="0" bIns="0" rtlCol="0" anchor="t"/>
          <a:lstStyle/>
          <a:p>
            <a:pPr indent="0" marL="0">
              <a:buNone/>
            </a:pPr>
            <a:r>
              <a:rPr lang="en-US" sz="1400" dirty="0">
                <a:solidFill>
                  <a:schemeClr val="tx2"/>
                </a:solidFill>
              </a:rPr>
              <a:t>Inconsistent, hard to scale, and leave little evidence behind</a:t>
            </a:r>
            <a:endParaRPr lang="en-US" sz="1400" dirty="0"/>
          </a:p>
        </p:txBody>
      </p:sp>
      <p:sp>
        <p:nvSpPr>
          <p:cNvPr id="16" name="card-44"/>
          <p:cNvSpPr/>
          <p:nvPr/>
        </p:nvSpPr>
        <p:spPr>
          <a:xfrm>
            <a:off x="8549640" y="1417320"/>
            <a:ext cx="3090672" cy="4663440"/>
          </a:xfrm>
          <a:prstGeom prst="roundRect">
            <a:avLst>
              <a:gd name="adj" fmla="val 3550"/>
            </a:avLst>
          </a:prstGeom>
          <a:solidFill>
            <a:schemeClr val="accent6"/>
          </a:solidFill>
          <a:ln w="12700">
            <a:solidFill>
              <a:schemeClr val="accent6"/>
            </a:solidFill>
            <a:prstDash val="solid"/>
          </a:ln>
        </p:spPr>
      </p:sp>
      <p:sp>
        <p:nvSpPr>
          <p:cNvPr id="17" name="text-45"/>
          <p:cNvSpPr txBox="1"/>
          <p:nvPr/>
        </p:nvSpPr>
        <p:spPr>
          <a:xfrm>
            <a:off x="8823960" y="1645920"/>
            <a:ext cx="2560320" cy="365760"/>
          </a:xfrm>
          <a:prstGeom prst="rect">
            <a:avLst/>
          </a:prstGeom>
          <a:noFill/>
          <a:ln/>
        </p:spPr>
        <p:txBody>
          <a:bodyPr wrap="square" lIns="0" tIns="0" rIns="0" bIns="0" rtlCol="0" anchor="t"/>
          <a:lstStyle/>
          <a:p>
            <a:pPr indent="0" marL="0">
              <a:buNone/>
            </a:pPr>
            <a:r>
              <a:rPr lang="en-US" sz="1800" b="1" dirty="0">
                <a:solidFill>
                  <a:schemeClr val="accent1"/>
                </a:solidFill>
              </a:rPr>
              <a:t>Still unsolved</a:t>
            </a:r>
            <a:endParaRPr lang="en-US" sz="1800" dirty="0"/>
          </a:p>
        </p:txBody>
      </p:sp>
      <p:sp>
        <p:nvSpPr>
          <p:cNvPr id="18" name="text-46"/>
          <p:cNvSpPr txBox="1"/>
          <p:nvPr/>
        </p:nvSpPr>
        <p:spPr>
          <a:xfrm>
            <a:off x="8823960" y="2103120"/>
            <a:ext cx="2560320" cy="1737360"/>
          </a:xfrm>
          <a:prstGeom prst="rect">
            <a:avLst/>
          </a:prstGeom>
          <a:noFill/>
          <a:ln/>
        </p:spPr>
        <p:txBody>
          <a:bodyPr wrap="square" lIns="0" tIns="0" rIns="0" bIns="0" rtlCol="0" anchor="t"/>
          <a:lstStyle/>
          <a:p>
            <a:pPr indent="0" marL="0">
              <a:buNone/>
            </a:pPr>
            <a:r>
              <a:rPr lang="en-US" sz="1500" dirty="0">
                <a:solidFill>
                  <a:schemeClr val="tx1"/>
                </a:solidFill>
              </a:rPr>
              <a:t>A real, adaptive conversation, integrity evidence and explainable scoring in one flow, with a person making the call.</a:t>
            </a:r>
            <a:endParaRPr lang="en-US" sz="1500" dirty="0"/>
          </a:p>
        </p:txBody>
      </p:sp>
      <p:sp>
        <p:nvSpPr>
          <p:cNvPr id="19" name="text-47"/>
          <p:cNvSpPr txBox="1"/>
          <p:nvPr/>
        </p:nvSpPr>
        <p:spPr>
          <a:xfrm>
            <a:off x="8823960" y="3886200"/>
            <a:ext cx="2560320" cy="365760"/>
          </a:xfrm>
          <a:prstGeom prst="rect">
            <a:avLst/>
          </a:prstGeom>
          <a:noFill/>
          <a:ln/>
        </p:spPr>
        <p:txBody>
          <a:bodyPr wrap="square" lIns="0" tIns="0" rIns="0" bIns="0" rtlCol="0" anchor="t"/>
          <a:lstStyle/>
          <a:p>
            <a:pPr indent="0" marL="0">
              <a:buNone/>
            </a:pPr>
            <a:r>
              <a:rPr lang="en-US" sz="1800" b="1" dirty="0">
                <a:solidFill>
                  <a:schemeClr val="accent1"/>
                </a:solidFill>
              </a:rPr>
              <a:t>Why a new solution</a:t>
            </a:r>
            <a:endParaRPr lang="en-US" sz="1800" dirty="0"/>
          </a:p>
        </p:txBody>
      </p:sp>
      <p:sp>
        <p:nvSpPr>
          <p:cNvPr id="20" name="text-48"/>
          <p:cNvSpPr txBox="1"/>
          <p:nvPr/>
        </p:nvSpPr>
        <p:spPr>
          <a:xfrm>
            <a:off x="8823960" y="4343400"/>
            <a:ext cx="2560320" cy="1463040"/>
          </a:xfrm>
          <a:prstGeom prst="rect">
            <a:avLst/>
          </a:prstGeom>
          <a:noFill/>
          <a:ln/>
        </p:spPr>
        <p:txBody>
          <a:bodyPr wrap="square" lIns="0" tIns="0" rIns="0" bIns="0" rtlCol="0" anchor="t"/>
          <a:lstStyle/>
          <a:p>
            <a:pPr indent="0" marL="0">
              <a:buNone/>
            </a:pPr>
            <a:r>
              <a:rPr lang="en-US" sz="1500" dirty="0">
                <a:solidFill>
                  <a:schemeClr val="tx1"/>
                </a:solidFill>
              </a:rPr>
              <a:t>AI assistants defeat static questions. Questions must adapt to each candidate's own resume and answers.</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31520"/>
          </a:xfrm>
          <a:prstGeom prst="rect">
            <a:avLst/>
          </a:prstGeom>
          <a:noFill/>
          <a:ln/>
        </p:spPr>
        <p:txBody>
          <a:bodyPr wrap="square" lIns="0" tIns="0" rIns="0" bIns="0" rtlCol="0" anchor="ctr"/>
          <a:lstStyle/>
          <a:p>
            <a:pPr indent="0" marL="0">
              <a:buNone/>
            </a:pPr>
            <a:r>
              <a:rPr lang="en-US" sz="3000" b="1" dirty="0">
                <a:solidFill>
                  <a:schemeClr val="tx1"/>
                </a:solidFill>
              </a:rPr>
              <a:t>Proctra: an AI interviewer that brings evidence, not verdicts</a:t>
            </a:r>
            <a:endParaRPr lang="en-US" sz="3000" dirty="0"/>
          </a:p>
        </p:txBody>
      </p:sp>
      <p:sp>
        <p:nvSpPr>
          <p:cNvPr id="3" name="dot-49"/>
          <p:cNvSpPr/>
          <p:nvPr/>
        </p:nvSpPr>
        <p:spPr>
          <a:xfrm>
            <a:off x="548640" y="1463040"/>
            <a:ext cx="384048" cy="384048"/>
          </a:xfrm>
          <a:prstGeom prst="ellipse">
            <a:avLst/>
          </a:prstGeom>
          <a:solidFill>
            <a:schemeClr val="accent6"/>
          </a:solidFill>
          <a:ln w="12700">
            <a:solidFill>
              <a:schemeClr val="accent6"/>
            </a:solidFill>
            <a:prstDash val="solid"/>
          </a:ln>
        </p:spPr>
      </p:sp>
      <p:sp>
        <p:nvSpPr>
          <p:cNvPr id="4" name="text-50"/>
          <p:cNvSpPr txBox="1"/>
          <p:nvPr/>
        </p:nvSpPr>
        <p:spPr>
          <a:xfrm>
            <a:off x="548640" y="1463040"/>
            <a:ext cx="384048" cy="384048"/>
          </a:xfrm>
          <a:prstGeom prst="rect">
            <a:avLst/>
          </a:prstGeom>
          <a:noFill/>
          <a:ln/>
        </p:spPr>
        <p:txBody>
          <a:bodyPr wrap="square" lIns="0" tIns="0" rIns="0" bIns="0" rtlCol="0" anchor="ctr"/>
          <a:lstStyle/>
          <a:p>
            <a:pPr algn="ctr" indent="0" marL="0">
              <a:buNone/>
            </a:pPr>
            <a:r>
              <a:rPr lang="en-US" sz="1400" b="1" dirty="0">
                <a:solidFill>
                  <a:schemeClr val="accent1"/>
                </a:solidFill>
              </a:rPr>
              <a:t>1</a:t>
            </a:r>
            <a:endParaRPr lang="en-US" sz="1400" dirty="0"/>
          </a:p>
        </p:txBody>
      </p:sp>
      <p:sp>
        <p:nvSpPr>
          <p:cNvPr id="5" name="text-51"/>
          <p:cNvSpPr txBox="1"/>
          <p:nvPr/>
        </p:nvSpPr>
        <p:spPr>
          <a:xfrm>
            <a:off x="1097280" y="1417320"/>
            <a:ext cx="4480560" cy="320040"/>
          </a:xfrm>
          <a:prstGeom prst="rect">
            <a:avLst/>
          </a:prstGeom>
          <a:noFill/>
          <a:ln/>
        </p:spPr>
        <p:txBody>
          <a:bodyPr wrap="square" lIns="0" tIns="0" rIns="0" bIns="0" rtlCol="0" anchor="t"/>
          <a:lstStyle/>
          <a:p>
            <a:pPr indent="0" marL="0">
              <a:buNone/>
            </a:pPr>
            <a:r>
              <a:rPr lang="en-US" sz="1600" b="1" dirty="0">
                <a:solidFill>
                  <a:schemeClr val="tx1"/>
                </a:solidFill>
              </a:rPr>
              <a:t>Adaptive voice interview</a:t>
            </a:r>
            <a:endParaRPr lang="en-US" sz="1600" dirty="0"/>
          </a:p>
        </p:txBody>
      </p:sp>
      <p:sp>
        <p:nvSpPr>
          <p:cNvPr id="6" name="text-52"/>
          <p:cNvSpPr txBox="1"/>
          <p:nvPr/>
        </p:nvSpPr>
        <p:spPr>
          <a:xfrm>
            <a:off x="1097280" y="1764792"/>
            <a:ext cx="4480560" cy="566928"/>
          </a:xfrm>
          <a:prstGeom prst="rect">
            <a:avLst/>
          </a:prstGeom>
          <a:noFill/>
          <a:ln/>
        </p:spPr>
        <p:txBody>
          <a:bodyPr wrap="square" lIns="0" tIns="0" rIns="0" bIns="0" rtlCol="0" anchor="t"/>
          <a:lstStyle/>
          <a:p>
            <a:pPr indent="0" marL="0">
              <a:buNone/>
            </a:pPr>
            <a:r>
              <a:rPr lang="en-US" sz="1400" dirty="0">
                <a:solidFill>
                  <a:schemeClr val="tx2"/>
                </a:solidFill>
              </a:rPr>
              <a:t>Resume- and job-specific questions, follow-ups, "repeat" and interruptions handled naturally</a:t>
            </a:r>
            <a:endParaRPr lang="en-US" sz="1400" dirty="0"/>
          </a:p>
        </p:txBody>
      </p:sp>
      <p:sp>
        <p:nvSpPr>
          <p:cNvPr id="7" name="dot-53"/>
          <p:cNvSpPr/>
          <p:nvPr/>
        </p:nvSpPr>
        <p:spPr>
          <a:xfrm>
            <a:off x="548640" y="2450592"/>
            <a:ext cx="384048" cy="384048"/>
          </a:xfrm>
          <a:prstGeom prst="ellipse">
            <a:avLst/>
          </a:prstGeom>
          <a:solidFill>
            <a:schemeClr val="accent6"/>
          </a:solidFill>
          <a:ln w="12700">
            <a:solidFill>
              <a:schemeClr val="accent6"/>
            </a:solidFill>
            <a:prstDash val="solid"/>
          </a:ln>
        </p:spPr>
      </p:sp>
      <p:sp>
        <p:nvSpPr>
          <p:cNvPr id="8" name="text-54"/>
          <p:cNvSpPr txBox="1"/>
          <p:nvPr/>
        </p:nvSpPr>
        <p:spPr>
          <a:xfrm>
            <a:off x="548640" y="2450592"/>
            <a:ext cx="384048" cy="384048"/>
          </a:xfrm>
          <a:prstGeom prst="rect">
            <a:avLst/>
          </a:prstGeom>
          <a:noFill/>
          <a:ln/>
        </p:spPr>
        <p:txBody>
          <a:bodyPr wrap="square" lIns="0" tIns="0" rIns="0" bIns="0" rtlCol="0" anchor="ctr"/>
          <a:lstStyle/>
          <a:p>
            <a:pPr algn="ctr" indent="0" marL="0">
              <a:buNone/>
            </a:pPr>
            <a:r>
              <a:rPr lang="en-US" sz="1400" b="1" dirty="0">
                <a:solidFill>
                  <a:schemeClr val="accent1"/>
                </a:solidFill>
              </a:rPr>
              <a:t>2</a:t>
            </a:r>
            <a:endParaRPr lang="en-US" sz="1400" dirty="0"/>
          </a:p>
        </p:txBody>
      </p:sp>
      <p:sp>
        <p:nvSpPr>
          <p:cNvPr id="9" name="text-55"/>
          <p:cNvSpPr txBox="1"/>
          <p:nvPr/>
        </p:nvSpPr>
        <p:spPr>
          <a:xfrm>
            <a:off x="1097280" y="2404872"/>
            <a:ext cx="4480560" cy="320040"/>
          </a:xfrm>
          <a:prstGeom prst="rect">
            <a:avLst/>
          </a:prstGeom>
          <a:noFill/>
          <a:ln/>
        </p:spPr>
        <p:txBody>
          <a:bodyPr wrap="square" lIns="0" tIns="0" rIns="0" bIns="0" rtlCol="0" anchor="t"/>
          <a:lstStyle/>
          <a:p>
            <a:pPr indent="0" marL="0">
              <a:buNone/>
            </a:pPr>
            <a:r>
              <a:rPr lang="en-US" sz="1600" b="1" dirty="0">
                <a:solidFill>
                  <a:schemeClr val="tx1"/>
                </a:solidFill>
              </a:rPr>
              <a:t>Camera, screen and phone evidence</a:t>
            </a:r>
            <a:endParaRPr lang="en-US" sz="1600" dirty="0"/>
          </a:p>
        </p:txBody>
      </p:sp>
      <p:sp>
        <p:nvSpPr>
          <p:cNvPr id="10" name="text-56"/>
          <p:cNvSpPr txBox="1"/>
          <p:nvPr/>
        </p:nvSpPr>
        <p:spPr>
          <a:xfrm>
            <a:off x="1097280" y="2752344"/>
            <a:ext cx="4480560" cy="566928"/>
          </a:xfrm>
          <a:prstGeom prst="rect">
            <a:avLst/>
          </a:prstGeom>
          <a:noFill/>
          <a:ln/>
        </p:spPr>
        <p:txBody>
          <a:bodyPr wrap="square" lIns="0" tIns="0" rIns="0" bIns="0" rtlCol="0" anchor="t"/>
          <a:lstStyle/>
          <a:p>
            <a:pPr indent="0" marL="0">
              <a:buNone/>
            </a:pPr>
            <a:r>
              <a:rPr lang="en-US" sz="1400" dirty="0">
                <a:solidFill>
                  <a:schemeClr val="tx2"/>
                </a:solidFill>
              </a:rPr>
              <a:t>All three are recorded and replayed in sync; signals become observations with harmless explanations</a:t>
            </a:r>
            <a:endParaRPr lang="en-US" sz="1400" dirty="0"/>
          </a:p>
        </p:txBody>
      </p:sp>
      <p:sp>
        <p:nvSpPr>
          <p:cNvPr id="11" name="dot-57"/>
          <p:cNvSpPr/>
          <p:nvPr/>
        </p:nvSpPr>
        <p:spPr>
          <a:xfrm>
            <a:off x="548640" y="3438144"/>
            <a:ext cx="384048" cy="384048"/>
          </a:xfrm>
          <a:prstGeom prst="ellipse">
            <a:avLst/>
          </a:prstGeom>
          <a:solidFill>
            <a:schemeClr val="accent6"/>
          </a:solidFill>
          <a:ln w="12700">
            <a:solidFill>
              <a:schemeClr val="accent6"/>
            </a:solidFill>
            <a:prstDash val="solid"/>
          </a:ln>
        </p:spPr>
      </p:sp>
      <p:sp>
        <p:nvSpPr>
          <p:cNvPr id="12" name="text-58"/>
          <p:cNvSpPr txBox="1"/>
          <p:nvPr/>
        </p:nvSpPr>
        <p:spPr>
          <a:xfrm>
            <a:off x="548640" y="3438144"/>
            <a:ext cx="384048" cy="384048"/>
          </a:xfrm>
          <a:prstGeom prst="rect">
            <a:avLst/>
          </a:prstGeom>
          <a:noFill/>
          <a:ln/>
        </p:spPr>
        <p:txBody>
          <a:bodyPr wrap="square" lIns="0" tIns="0" rIns="0" bIns="0" rtlCol="0" anchor="ctr"/>
          <a:lstStyle/>
          <a:p>
            <a:pPr algn="ctr" indent="0" marL="0">
              <a:buNone/>
            </a:pPr>
            <a:r>
              <a:rPr lang="en-US" sz="1400" b="1" dirty="0">
                <a:solidFill>
                  <a:schemeClr val="accent1"/>
                </a:solidFill>
              </a:rPr>
              <a:t>3</a:t>
            </a:r>
            <a:endParaRPr lang="en-US" sz="1400" dirty="0"/>
          </a:p>
        </p:txBody>
      </p:sp>
      <p:sp>
        <p:nvSpPr>
          <p:cNvPr id="13" name="text-59"/>
          <p:cNvSpPr txBox="1"/>
          <p:nvPr/>
        </p:nvSpPr>
        <p:spPr>
          <a:xfrm>
            <a:off x="1097280" y="3392424"/>
            <a:ext cx="4480560" cy="320040"/>
          </a:xfrm>
          <a:prstGeom prst="rect">
            <a:avLst/>
          </a:prstGeom>
          <a:noFill/>
          <a:ln/>
        </p:spPr>
        <p:txBody>
          <a:bodyPr wrap="square" lIns="0" tIns="0" rIns="0" bIns="0" rtlCol="0" anchor="t"/>
          <a:lstStyle/>
          <a:p>
            <a:pPr indent="0" marL="0">
              <a:buNone/>
            </a:pPr>
            <a:r>
              <a:rPr lang="en-US" sz="1600" b="1" dirty="0">
                <a:solidFill>
                  <a:schemeClr val="tx1"/>
                </a:solidFill>
              </a:rPr>
              <a:t>Explainable scores</a:t>
            </a:r>
            <a:endParaRPr lang="en-US" sz="1600" dirty="0"/>
          </a:p>
        </p:txBody>
      </p:sp>
      <p:sp>
        <p:nvSpPr>
          <p:cNvPr id="14" name="text-60"/>
          <p:cNvSpPr txBox="1"/>
          <p:nvPr/>
        </p:nvSpPr>
        <p:spPr>
          <a:xfrm>
            <a:off x="1097280" y="3739896"/>
            <a:ext cx="4480560" cy="566928"/>
          </a:xfrm>
          <a:prstGeom prst="rect">
            <a:avLst/>
          </a:prstGeom>
          <a:noFill/>
          <a:ln/>
        </p:spPr>
        <p:txBody>
          <a:bodyPr wrap="square" lIns="0" tIns="0" rIns="0" bIns="0" rtlCol="0" anchor="t"/>
          <a:lstStyle/>
          <a:p>
            <a:pPr indent="0" marL="0">
              <a:buNone/>
            </a:pPr>
            <a:r>
              <a:rPr lang="en-US" sz="1400" dirty="0">
                <a:solidFill>
                  <a:schemeClr val="tx2"/>
                </a:solidFill>
              </a:rPr>
              <a:t>Every rubric score cites verbatim quotes, verified against the transcript</a:t>
            </a:r>
            <a:endParaRPr lang="en-US" sz="1400" dirty="0"/>
          </a:p>
        </p:txBody>
      </p:sp>
      <p:sp>
        <p:nvSpPr>
          <p:cNvPr id="15" name="dot-61"/>
          <p:cNvSpPr/>
          <p:nvPr/>
        </p:nvSpPr>
        <p:spPr>
          <a:xfrm>
            <a:off x="548640" y="4425696"/>
            <a:ext cx="384048" cy="384048"/>
          </a:xfrm>
          <a:prstGeom prst="ellipse">
            <a:avLst/>
          </a:prstGeom>
          <a:solidFill>
            <a:schemeClr val="accent6"/>
          </a:solidFill>
          <a:ln w="12700">
            <a:solidFill>
              <a:schemeClr val="accent6"/>
            </a:solidFill>
            <a:prstDash val="solid"/>
          </a:ln>
        </p:spPr>
      </p:sp>
      <p:sp>
        <p:nvSpPr>
          <p:cNvPr id="16" name="text-62"/>
          <p:cNvSpPr txBox="1"/>
          <p:nvPr/>
        </p:nvSpPr>
        <p:spPr>
          <a:xfrm>
            <a:off x="548640" y="4425696"/>
            <a:ext cx="384048" cy="384048"/>
          </a:xfrm>
          <a:prstGeom prst="rect">
            <a:avLst/>
          </a:prstGeom>
          <a:noFill/>
          <a:ln/>
        </p:spPr>
        <p:txBody>
          <a:bodyPr wrap="square" lIns="0" tIns="0" rIns="0" bIns="0" rtlCol="0" anchor="ctr"/>
          <a:lstStyle/>
          <a:p>
            <a:pPr algn="ctr" indent="0" marL="0">
              <a:buNone/>
            </a:pPr>
            <a:r>
              <a:rPr lang="en-US" sz="1400" b="1" dirty="0">
                <a:solidFill>
                  <a:schemeClr val="accent1"/>
                </a:solidFill>
              </a:rPr>
              <a:t>4</a:t>
            </a:r>
            <a:endParaRPr lang="en-US" sz="1400" dirty="0"/>
          </a:p>
        </p:txBody>
      </p:sp>
      <p:sp>
        <p:nvSpPr>
          <p:cNvPr id="17" name="text-63"/>
          <p:cNvSpPr txBox="1"/>
          <p:nvPr/>
        </p:nvSpPr>
        <p:spPr>
          <a:xfrm>
            <a:off x="1097280" y="4379976"/>
            <a:ext cx="4480560" cy="320040"/>
          </a:xfrm>
          <a:prstGeom prst="rect">
            <a:avLst/>
          </a:prstGeom>
          <a:noFill/>
          <a:ln/>
        </p:spPr>
        <p:txBody>
          <a:bodyPr wrap="square" lIns="0" tIns="0" rIns="0" bIns="0" rtlCol="0" anchor="t"/>
          <a:lstStyle/>
          <a:p>
            <a:pPr indent="0" marL="0">
              <a:buNone/>
            </a:pPr>
            <a:r>
              <a:rPr lang="en-US" sz="1600" b="1" dirty="0">
                <a:solidFill>
                  <a:schemeClr val="tx1"/>
                </a:solidFill>
              </a:rPr>
              <a:t>People decide</a:t>
            </a:r>
            <a:endParaRPr lang="en-US" sz="1600" dirty="0"/>
          </a:p>
        </p:txBody>
      </p:sp>
      <p:sp>
        <p:nvSpPr>
          <p:cNvPr id="18" name="text-64"/>
          <p:cNvSpPr txBox="1"/>
          <p:nvPr/>
        </p:nvSpPr>
        <p:spPr>
          <a:xfrm>
            <a:off x="1097280" y="4727448"/>
            <a:ext cx="4480560" cy="566928"/>
          </a:xfrm>
          <a:prstGeom prst="rect">
            <a:avLst/>
          </a:prstGeom>
          <a:noFill/>
          <a:ln/>
        </p:spPr>
        <p:txBody>
          <a:bodyPr wrap="square" lIns="0" tIns="0" rIns="0" bIns="0" rtlCol="0" anchor="t"/>
          <a:lstStyle/>
          <a:p>
            <a:pPr indent="0" marL="0">
              <a:buNone/>
            </a:pPr>
            <a:r>
              <a:rPr lang="en-US" sz="1400" dirty="0">
                <a:solidFill>
                  <a:schemeClr val="tx2"/>
                </a:solidFill>
              </a:rPr>
              <a:t>Recruiters override scores with a reason and choose Advance, Hold or Reject</a:t>
            </a:r>
            <a:endParaRPr lang="en-US" sz="1400" dirty="0"/>
          </a:p>
        </p:txBody>
      </p:sp>
      <p:sp>
        <p:nvSpPr>
          <p:cNvPr id="19" name="card-65"/>
          <p:cNvSpPr/>
          <p:nvPr/>
        </p:nvSpPr>
        <p:spPr>
          <a:xfrm>
            <a:off x="548640" y="5440680"/>
            <a:ext cx="5029200" cy="777240"/>
          </a:xfrm>
          <a:prstGeom prst="roundRect">
            <a:avLst>
              <a:gd name="adj" fmla="val 14118"/>
            </a:avLst>
          </a:prstGeom>
          <a:solidFill>
            <a:schemeClr val="accent6"/>
          </a:solidFill>
          <a:ln w="12700">
            <a:solidFill>
              <a:schemeClr val="accent6"/>
            </a:solidFill>
            <a:prstDash val="solid"/>
          </a:ln>
        </p:spPr>
      </p:sp>
      <p:sp>
        <p:nvSpPr>
          <p:cNvPr id="20" name="text-66"/>
          <p:cNvSpPr txBox="1"/>
          <p:nvPr/>
        </p:nvSpPr>
        <p:spPr>
          <a:xfrm>
            <a:off x="777240" y="5532120"/>
            <a:ext cx="4617720" cy="640080"/>
          </a:xfrm>
          <a:prstGeom prst="rect">
            <a:avLst/>
          </a:prstGeom>
          <a:noFill/>
          <a:ln/>
        </p:spPr>
        <p:txBody>
          <a:bodyPr wrap="square" lIns="0" tIns="0" rIns="0" bIns="0" rtlCol="0" anchor="t"/>
          <a:lstStyle/>
          <a:p>
            <a:pPr indent="0" marL="0">
              <a:buNone/>
            </a:pPr>
            <a:r>
              <a:rPr lang="en-US" sz="1300" b="1" dirty="0">
                <a:solidFill>
                  <a:schemeClr val="accent1"/>
                </a:solidFill>
              </a:rPr>
              <a:t>What's new: </a:t>
            </a:r>
            <a:pPr indent="0" marL="0">
              <a:buNone/>
            </a:pPr>
            <a:r>
              <a:rPr lang="en-US" sz="1300" dirty="0">
                <a:solidFill>
                  <a:schemeClr val="tx1"/>
                </a:solidFill>
              </a:rPr>
              <a:t>proctoring never feeds the score (enforced in code and tested), and perception and fallback voice run in the browser: private and free.</a:t>
            </a:r>
            <a:endParaRPr lang="en-US" sz="1300" dirty="0"/>
          </a:p>
        </p:txBody>
      </p:sp>
      <p:sp>
        <p:nvSpPr>
          <p:cNvPr id="21" name="frame-67"/>
          <p:cNvSpPr/>
          <p:nvPr/>
        </p:nvSpPr>
        <p:spPr>
          <a:xfrm>
            <a:off x="5989320" y="1417320"/>
            <a:ext cx="5650992" cy="3531870"/>
          </a:xfrm>
          <a:prstGeom prst="rect">
            <a:avLst/>
          </a:prstGeom>
          <a:solidFill>
            <a:schemeClr val="bg1"/>
          </a:solidFill>
          <a:ln w="9525">
            <a:solidFill>
              <a:schemeClr val="accent5"/>
            </a:solidFill>
            <a:prstDash val="solid"/>
          </a:ln>
          <a:effectLst>
            <a:outerShdw sx="100000" sy="100000" kx="0" ky="0" algn="bl" rotWithShape="0" blurRad="76200" dist="25400" dir="5400000">
              <a:srgbClr val="0F172A">
                <a:alpha val="12000"/>
              </a:srgbClr>
            </a:outerShdw>
          </a:effectLst>
        </p:spPr>
      </p:sp>
      <p:pic>
        <p:nvPicPr>
          <p:cNvPr id="22" name="shot-68" descr="Proctra review page: overall score, competency bars and the recruiter decision panel">    </p:cNvPr>
          <p:cNvPicPr>
            <a:picLocks noChangeAspect="1"/>
          </p:cNvPicPr>
          <p:nvPr/>
        </p:nvPicPr>
        <p:blipFill>
          <a:blip r:embed="rId1"/>
          <a:stretch>
            <a:fillRect/>
          </a:stretch>
        </p:blipFill>
        <p:spPr>
          <a:xfrm>
            <a:off x="5989320" y="1417320"/>
            <a:ext cx="5650992" cy="3531870"/>
          </a:xfrm>
          <a:prstGeom prst="rect">
            <a:avLst/>
          </a:prstGeom>
        </p:spPr>
      </p:pic>
      <p:sp>
        <p:nvSpPr>
          <p:cNvPr id="23" name="text-69"/>
          <p:cNvSpPr txBox="1"/>
          <p:nvPr/>
        </p:nvSpPr>
        <p:spPr>
          <a:xfrm>
            <a:off x="5989320" y="5029200"/>
            <a:ext cx="5650992" cy="292608"/>
          </a:xfrm>
          <a:prstGeom prst="rect">
            <a:avLst/>
          </a:prstGeom>
          <a:noFill/>
          <a:ln/>
        </p:spPr>
        <p:txBody>
          <a:bodyPr wrap="square" lIns="0" tIns="0" rIns="0" bIns="0" rtlCol="0" anchor="t"/>
          <a:lstStyle/>
          <a:p>
            <a:pPr indent="0" marL="0">
              <a:buNone/>
            </a:pPr>
            <a:r>
              <a:rPr lang="en-US" sz="1100" dirty="0">
                <a:solidFill>
                  <a:schemeClr val="tx2"/>
                </a:solidFill>
              </a:rPr>
              <a:t>Recruiter review: scores with evidence, synced recordings, and the decision panel</a:t>
            </a:r>
            <a:endParaRPr lang="en-US" sz="11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31520"/>
          </a:xfrm>
          <a:prstGeom prst="rect">
            <a:avLst/>
          </a:prstGeom>
          <a:noFill/>
          <a:ln/>
        </p:spPr>
        <p:txBody>
          <a:bodyPr wrap="square" lIns="0" tIns="0" rIns="0" bIns="0" rtlCol="0" anchor="ctr"/>
          <a:lstStyle/>
          <a:p>
            <a:pPr indent="0" marL="0">
              <a:buNone/>
            </a:pPr>
            <a:r>
              <a:rPr lang="en-US" sz="3000" b="1" dirty="0">
                <a:solidFill>
                  <a:schemeClr val="tx1"/>
                </a:solidFill>
              </a:rPr>
              <a:t>System architecture</a:t>
            </a:r>
            <a:endParaRPr lang="en-US" sz="3000" dirty="0"/>
          </a:p>
        </p:txBody>
      </p:sp>
      <p:pic>
        <p:nvPicPr>
          <p:cNvPr id="3" name="diagram-70" descr="Architecture: browser clients, Next.js on Vercel, Supabase and Groq services, with data flows">    </p:cNvPr>
          <p:cNvPicPr>
            <a:picLocks noChangeAspect="1"/>
          </p:cNvPicPr>
          <p:nvPr/>
        </p:nvPicPr>
        <p:blipFill>
          <a:blip r:embed="rId1"/>
          <a:stretch>
            <a:fillRect/>
          </a:stretch>
        </p:blipFill>
        <p:spPr>
          <a:xfrm>
            <a:off x="792328" y="1188720"/>
            <a:ext cx="10607040" cy="5193030"/>
          </a:xfrm>
          <a:prstGeom prst="rect">
            <a:avLst/>
          </a:prstGeom>
        </p:spPr>
      </p:pic>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31520"/>
          </a:xfrm>
          <a:prstGeom prst="rect">
            <a:avLst/>
          </a:prstGeom>
          <a:noFill/>
          <a:ln/>
        </p:spPr>
        <p:txBody>
          <a:bodyPr wrap="square" lIns="0" tIns="0" rIns="0" bIns="0" rtlCol="0" anchor="ctr"/>
          <a:lstStyle/>
          <a:p>
            <a:pPr indent="0" marL="0">
              <a:buNone/>
            </a:pPr>
            <a:r>
              <a:rPr lang="en-US" sz="3000" b="1" dirty="0">
                <a:solidFill>
                  <a:schemeClr val="tx1"/>
                </a:solidFill>
              </a:rPr>
              <a:t>Workflow and user journey</a:t>
            </a:r>
            <a:endParaRPr lang="en-US" sz="3000" dirty="0"/>
          </a:p>
        </p:txBody>
      </p:sp>
      <p:pic>
        <p:nvPicPr>
          <p:cNvPr id="3" name="diagram-71" descr="User journey across recruiter, candidate and Proctra AI lanes, steps 1 to 11">    </p:cNvPr>
          <p:cNvPicPr>
            <a:picLocks noChangeAspect="1"/>
          </p:cNvPicPr>
          <p:nvPr/>
        </p:nvPicPr>
        <p:blipFill>
          <a:blip r:embed="rId1"/>
          <a:stretch>
            <a:fillRect/>
          </a:stretch>
        </p:blipFill>
        <p:spPr>
          <a:xfrm>
            <a:off x="548640" y="1188720"/>
            <a:ext cx="7818120" cy="3614830"/>
          </a:xfrm>
          <a:prstGeom prst="rect">
            <a:avLst/>
          </a:prstGeom>
        </p:spPr>
      </p:pic>
      <p:sp>
        <p:nvSpPr>
          <p:cNvPr id="4" name="card-72"/>
          <p:cNvSpPr/>
          <p:nvPr/>
        </p:nvSpPr>
        <p:spPr>
          <a:xfrm>
            <a:off x="548640" y="4983480"/>
            <a:ext cx="7818120" cy="1234440"/>
          </a:xfrm>
          <a:prstGeom prst="roundRect">
            <a:avLst>
              <a:gd name="adj" fmla="val 8889"/>
            </a:avLst>
          </a:prstGeom>
          <a:solidFill>
            <a:schemeClr val="bg2"/>
          </a:solidFill>
          <a:ln w="12700">
            <a:solidFill>
              <a:schemeClr val="bg2"/>
            </a:solidFill>
            <a:prstDash val="solid"/>
          </a:ln>
        </p:spPr>
      </p:sp>
      <p:sp>
        <p:nvSpPr>
          <p:cNvPr id="5" name="text-73"/>
          <p:cNvSpPr txBox="1"/>
          <p:nvPr/>
        </p:nvSpPr>
        <p:spPr>
          <a:xfrm>
            <a:off x="777240" y="5120640"/>
            <a:ext cx="7360920" cy="1005840"/>
          </a:xfrm>
          <a:prstGeom prst="rect">
            <a:avLst/>
          </a:prstGeom>
          <a:noFill/>
          <a:ln/>
        </p:spPr>
        <p:txBody>
          <a:bodyPr wrap="square" lIns="0" tIns="0" rIns="0" bIns="0" rtlCol="0" anchor="t"/>
          <a:lstStyle/>
          <a:p>
            <a:pPr indent="0" marL="0">
              <a:buNone/>
            </a:pPr>
            <a:r>
              <a:rPr lang="en-US" sz="1400" b="1" dirty="0">
                <a:solidFill>
                  <a:schemeClr val="accent1"/>
                </a:solidFill>
              </a:rPr>
              <a:t>Example: </a:t>
            </a:r>
            <a:pPr indent="0" marL="0">
              <a:buNone/>
            </a:pPr>
            <a:r>
              <a:rPr lang="en-US" sz="1400" dirty="0">
                <a:solidFill>
                  <a:schemeClr val="tx1"/>
                </a:solidFill>
              </a:rPr>
              <a:t>Senior Backend Engineer. The recruiter adds the resume, approves 3 AI questions about the candidate's real projects and sends the link. The ~8-minute voice interview includes follow-ups and one interruption; the evaluation is ready ~30 s later.</a:t>
            </a:r>
            <a:endParaRPr lang="en-US" sz="1400" dirty="0"/>
          </a:p>
        </p:txBody>
      </p:sp>
      <p:sp>
        <p:nvSpPr>
          <p:cNvPr id="6" name="frame-74"/>
          <p:cNvSpPr/>
          <p:nvPr/>
        </p:nvSpPr>
        <p:spPr>
          <a:xfrm>
            <a:off x="8460943" y="1188720"/>
            <a:ext cx="3182112" cy="1988820"/>
          </a:xfrm>
          <a:prstGeom prst="rect">
            <a:avLst/>
          </a:prstGeom>
          <a:solidFill>
            <a:schemeClr val="bg1"/>
          </a:solidFill>
          <a:ln w="9525">
            <a:solidFill>
              <a:schemeClr val="accent5"/>
            </a:solidFill>
            <a:prstDash val="solid"/>
          </a:ln>
          <a:effectLst>
            <a:outerShdw sx="100000" sy="100000" kx="0" ky="0" algn="bl" rotWithShape="0" blurRad="76200" dist="25400" dir="5400000">
              <a:srgbClr val="0F172A">
                <a:alpha val="12000"/>
              </a:srgbClr>
            </a:outerShdw>
          </a:effectLst>
        </p:spPr>
      </p:sp>
      <p:pic>
        <p:nvPicPr>
          <p:cNvPr id="7" name="shot-75" descr="Candidate onboarding: pairing the phone side camera by QR code">    </p:cNvPr>
          <p:cNvPicPr>
            <a:picLocks noChangeAspect="1"/>
          </p:cNvPicPr>
          <p:nvPr/>
        </p:nvPicPr>
        <p:blipFill>
          <a:blip r:embed="rId2"/>
          <a:stretch>
            <a:fillRect/>
          </a:stretch>
        </p:blipFill>
        <p:spPr>
          <a:xfrm>
            <a:off x="8460943" y="1188720"/>
            <a:ext cx="3182112" cy="1988820"/>
          </a:xfrm>
          <a:prstGeom prst="rect">
            <a:avLst/>
          </a:prstGeom>
        </p:spPr>
      </p:pic>
      <p:sp>
        <p:nvSpPr>
          <p:cNvPr id="8" name="text-76"/>
          <p:cNvSpPr txBox="1"/>
          <p:nvPr/>
        </p:nvSpPr>
        <p:spPr>
          <a:xfrm>
            <a:off x="8460943" y="3250692"/>
            <a:ext cx="3182112" cy="292608"/>
          </a:xfrm>
          <a:prstGeom prst="rect">
            <a:avLst/>
          </a:prstGeom>
          <a:noFill/>
          <a:ln/>
        </p:spPr>
        <p:txBody>
          <a:bodyPr wrap="square" lIns="0" tIns="0" rIns="0" bIns="0" rtlCol="0" anchor="t"/>
          <a:lstStyle/>
          <a:p>
            <a:pPr indent="0" marL="0">
              <a:buNone/>
            </a:pPr>
            <a:r>
              <a:rPr lang="en-US" sz="1100" dirty="0">
                <a:solidFill>
                  <a:schemeClr val="tx2"/>
                </a:solidFill>
              </a:rPr>
              <a:t>Candidate pairs a phone by QR</a:t>
            </a:r>
            <a:endParaRPr lang="en-US" sz="1100" dirty="0"/>
          </a:p>
        </p:txBody>
      </p:sp>
      <p:sp>
        <p:nvSpPr>
          <p:cNvPr id="9" name="frame-77"/>
          <p:cNvSpPr/>
          <p:nvPr/>
        </p:nvSpPr>
        <p:spPr>
          <a:xfrm>
            <a:off x="8460943" y="3726180"/>
            <a:ext cx="3182112" cy="1988820"/>
          </a:xfrm>
          <a:prstGeom prst="rect">
            <a:avLst/>
          </a:prstGeom>
          <a:solidFill>
            <a:schemeClr val="bg1"/>
          </a:solidFill>
          <a:ln w="9525">
            <a:solidFill>
              <a:schemeClr val="accent5"/>
            </a:solidFill>
            <a:prstDash val="solid"/>
          </a:ln>
          <a:effectLst>
            <a:outerShdw sx="100000" sy="100000" kx="0" ky="0" algn="bl" rotWithShape="0" blurRad="76200" dist="25400" dir="5400000">
              <a:srgbClr val="0F172A">
                <a:alpha val="12000"/>
              </a:srgbClr>
            </a:outerShdw>
          </a:effectLst>
        </p:spPr>
      </p:sp>
      <p:pic>
        <p:nvPicPr>
          <p:cNvPr id="10" name="shot-78" descr="Recruiter review: camera, screen and phone recordings playing in sync with a timeline">    </p:cNvPr>
          <p:cNvPicPr>
            <a:picLocks noChangeAspect="1"/>
          </p:cNvPicPr>
          <p:nvPr/>
        </p:nvPicPr>
        <p:blipFill>
          <a:blip r:embed="rId3"/>
          <a:stretch>
            <a:fillRect/>
          </a:stretch>
        </p:blipFill>
        <p:spPr>
          <a:xfrm>
            <a:off x="8460943" y="3726180"/>
            <a:ext cx="3182112" cy="1988820"/>
          </a:xfrm>
          <a:prstGeom prst="rect">
            <a:avLst/>
          </a:prstGeom>
        </p:spPr>
      </p:pic>
      <p:sp>
        <p:nvSpPr>
          <p:cNvPr id="11" name="text-79"/>
          <p:cNvSpPr txBox="1"/>
          <p:nvPr/>
        </p:nvSpPr>
        <p:spPr>
          <a:xfrm>
            <a:off x="8460943" y="5788152"/>
            <a:ext cx="3182112" cy="292608"/>
          </a:xfrm>
          <a:prstGeom prst="rect">
            <a:avLst/>
          </a:prstGeom>
          <a:noFill/>
          <a:ln/>
        </p:spPr>
        <p:txBody>
          <a:bodyPr wrap="square" lIns="0" tIns="0" rIns="0" bIns="0" rtlCol="0" anchor="t"/>
          <a:lstStyle/>
          <a:p>
            <a:pPr indent="0" marL="0">
              <a:buNone/>
            </a:pPr>
            <a:r>
              <a:rPr lang="en-US" sz="1100" dirty="0">
                <a:solidFill>
                  <a:schemeClr val="tx2"/>
                </a:solidFill>
              </a:rPr>
              <a:t>Recruiter replays 3 synced streams</a:t>
            </a:r>
            <a:endParaRPr lang="en-US" sz="11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31520"/>
          </a:xfrm>
          <a:prstGeom prst="rect">
            <a:avLst/>
          </a:prstGeom>
          <a:noFill/>
          <a:ln/>
        </p:spPr>
        <p:txBody>
          <a:bodyPr wrap="square" lIns="0" tIns="0" rIns="0" bIns="0" rtlCol="0" anchor="ctr"/>
          <a:lstStyle/>
          <a:p>
            <a:pPr indent="0" marL="0">
              <a:buNone/>
            </a:pPr>
            <a:r>
              <a:rPr lang="en-US" sz="3000" b="1" dirty="0">
                <a:solidFill>
                  <a:schemeClr val="tx1"/>
                </a:solidFill>
              </a:rPr>
              <a:t>Implementation: what we built during the hackathon</a:t>
            </a:r>
            <a:endParaRPr lang="en-US" sz="3000" dirty="0"/>
          </a:p>
        </p:txBody>
      </p:sp>
      <p:sp>
        <p:nvSpPr>
          <p:cNvPr id="3" name="text-80"/>
          <p:cNvSpPr txBox="1"/>
          <p:nvPr/>
        </p:nvSpPr>
        <p:spPr>
          <a:xfrm>
            <a:off x="548640" y="1371600"/>
            <a:ext cx="4572000" cy="365760"/>
          </a:xfrm>
          <a:prstGeom prst="rect">
            <a:avLst/>
          </a:prstGeom>
          <a:noFill/>
          <a:ln/>
        </p:spPr>
        <p:txBody>
          <a:bodyPr wrap="square" lIns="0" tIns="0" rIns="0" bIns="0" rtlCol="0" anchor="t"/>
          <a:lstStyle/>
          <a:p>
            <a:pPr indent="0" marL="0">
              <a:buNone/>
            </a:pPr>
            <a:r>
              <a:rPr lang="en-US" sz="1800" b="1" dirty="0">
                <a:solidFill>
                  <a:schemeClr val="tx1"/>
                </a:solidFill>
              </a:rPr>
              <a:t>Stack</a:t>
            </a:r>
            <a:endParaRPr lang="en-US" sz="1800" dirty="0"/>
          </a:p>
        </p:txBody>
      </p:sp>
      <p:sp>
        <p:nvSpPr>
          <p:cNvPr id="4" name="card-81"/>
          <p:cNvSpPr/>
          <p:nvPr/>
        </p:nvSpPr>
        <p:spPr>
          <a:xfrm>
            <a:off x="548640" y="1810512"/>
            <a:ext cx="2286000" cy="365760"/>
          </a:xfrm>
          <a:prstGeom prst="roundRect">
            <a:avLst>
              <a:gd name="adj" fmla="val 30000"/>
            </a:avLst>
          </a:prstGeom>
          <a:solidFill>
            <a:schemeClr val="accent6"/>
          </a:solidFill>
          <a:ln w="12700">
            <a:solidFill>
              <a:schemeClr val="accent6"/>
            </a:solidFill>
            <a:prstDash val="solid"/>
          </a:ln>
        </p:spPr>
      </p:sp>
      <p:sp>
        <p:nvSpPr>
          <p:cNvPr id="5" name="text-82"/>
          <p:cNvSpPr txBox="1"/>
          <p:nvPr/>
        </p:nvSpPr>
        <p:spPr>
          <a:xfrm>
            <a:off x="685800" y="1874520"/>
            <a:ext cx="2057400" cy="256032"/>
          </a:xfrm>
          <a:prstGeom prst="rect">
            <a:avLst/>
          </a:prstGeom>
          <a:noFill/>
          <a:ln/>
        </p:spPr>
        <p:txBody>
          <a:bodyPr wrap="square" lIns="0" tIns="0" rIns="0" bIns="0" rtlCol="0" anchor="t"/>
          <a:lstStyle/>
          <a:p>
            <a:pPr indent="0" marL="0">
              <a:buNone/>
            </a:pPr>
            <a:r>
              <a:rPr lang="en-US" sz="1200" b="1" dirty="0">
                <a:solidFill>
                  <a:schemeClr val="accent1"/>
                </a:solidFill>
              </a:rPr>
              <a:t>Next.js 16 + TypeScript</a:t>
            </a:r>
            <a:endParaRPr lang="en-US" sz="1200" dirty="0"/>
          </a:p>
        </p:txBody>
      </p:sp>
      <p:sp>
        <p:nvSpPr>
          <p:cNvPr id="6" name="card-83"/>
          <p:cNvSpPr/>
          <p:nvPr/>
        </p:nvSpPr>
        <p:spPr>
          <a:xfrm>
            <a:off x="2944368" y="1810512"/>
            <a:ext cx="2286000" cy="365760"/>
          </a:xfrm>
          <a:prstGeom prst="roundRect">
            <a:avLst>
              <a:gd name="adj" fmla="val 30000"/>
            </a:avLst>
          </a:prstGeom>
          <a:solidFill>
            <a:schemeClr val="accent6"/>
          </a:solidFill>
          <a:ln w="12700">
            <a:solidFill>
              <a:schemeClr val="accent6"/>
            </a:solidFill>
            <a:prstDash val="solid"/>
          </a:ln>
        </p:spPr>
      </p:sp>
      <p:sp>
        <p:nvSpPr>
          <p:cNvPr id="7" name="text-84"/>
          <p:cNvSpPr txBox="1"/>
          <p:nvPr/>
        </p:nvSpPr>
        <p:spPr>
          <a:xfrm>
            <a:off x="3081528" y="1874520"/>
            <a:ext cx="2057400" cy="256032"/>
          </a:xfrm>
          <a:prstGeom prst="rect">
            <a:avLst/>
          </a:prstGeom>
          <a:noFill/>
          <a:ln/>
        </p:spPr>
        <p:txBody>
          <a:bodyPr wrap="square" lIns="0" tIns="0" rIns="0" bIns="0" rtlCol="0" anchor="t"/>
          <a:lstStyle/>
          <a:p>
            <a:pPr indent="0" marL="0">
              <a:buNone/>
            </a:pPr>
            <a:r>
              <a:rPr lang="en-US" sz="1200" b="1" dirty="0">
                <a:solidFill>
                  <a:schemeClr val="accent1"/>
                </a:solidFill>
              </a:rPr>
              <a:t>Supabase: Postgres + RLS</a:t>
            </a:r>
            <a:endParaRPr lang="en-US" sz="1200" dirty="0"/>
          </a:p>
        </p:txBody>
      </p:sp>
      <p:sp>
        <p:nvSpPr>
          <p:cNvPr id="8" name="card-85"/>
          <p:cNvSpPr/>
          <p:nvPr/>
        </p:nvSpPr>
        <p:spPr>
          <a:xfrm>
            <a:off x="548640" y="2267712"/>
            <a:ext cx="2286000" cy="365760"/>
          </a:xfrm>
          <a:prstGeom prst="roundRect">
            <a:avLst>
              <a:gd name="adj" fmla="val 30000"/>
            </a:avLst>
          </a:prstGeom>
          <a:solidFill>
            <a:schemeClr val="accent6"/>
          </a:solidFill>
          <a:ln w="12700">
            <a:solidFill>
              <a:schemeClr val="accent6"/>
            </a:solidFill>
            <a:prstDash val="solid"/>
          </a:ln>
        </p:spPr>
      </p:sp>
      <p:sp>
        <p:nvSpPr>
          <p:cNvPr id="9" name="text-86"/>
          <p:cNvSpPr txBox="1"/>
          <p:nvPr/>
        </p:nvSpPr>
        <p:spPr>
          <a:xfrm>
            <a:off x="685800" y="2331720"/>
            <a:ext cx="2057400" cy="256032"/>
          </a:xfrm>
          <a:prstGeom prst="rect">
            <a:avLst/>
          </a:prstGeom>
          <a:noFill/>
          <a:ln/>
        </p:spPr>
        <p:txBody>
          <a:bodyPr wrap="square" lIns="0" tIns="0" rIns="0" bIns="0" rtlCol="0" anchor="t"/>
          <a:lstStyle/>
          <a:p>
            <a:pPr indent="0" marL="0">
              <a:buNone/>
            </a:pPr>
            <a:r>
              <a:rPr lang="en-US" sz="1200" b="1" dirty="0">
                <a:solidFill>
                  <a:schemeClr val="accent1"/>
                </a:solidFill>
              </a:rPr>
              <a:t>Storage + Realtime</a:t>
            </a:r>
            <a:endParaRPr lang="en-US" sz="1200" dirty="0"/>
          </a:p>
        </p:txBody>
      </p:sp>
      <p:sp>
        <p:nvSpPr>
          <p:cNvPr id="10" name="card-87"/>
          <p:cNvSpPr/>
          <p:nvPr/>
        </p:nvSpPr>
        <p:spPr>
          <a:xfrm>
            <a:off x="2944368" y="2267712"/>
            <a:ext cx="2286000" cy="365760"/>
          </a:xfrm>
          <a:prstGeom prst="roundRect">
            <a:avLst>
              <a:gd name="adj" fmla="val 30000"/>
            </a:avLst>
          </a:prstGeom>
          <a:solidFill>
            <a:schemeClr val="accent6"/>
          </a:solidFill>
          <a:ln w="12700">
            <a:solidFill>
              <a:schemeClr val="accent6"/>
            </a:solidFill>
            <a:prstDash val="solid"/>
          </a:ln>
        </p:spPr>
      </p:sp>
      <p:sp>
        <p:nvSpPr>
          <p:cNvPr id="11" name="text-88"/>
          <p:cNvSpPr txBox="1"/>
          <p:nvPr/>
        </p:nvSpPr>
        <p:spPr>
          <a:xfrm>
            <a:off x="3081528" y="2331720"/>
            <a:ext cx="2057400" cy="256032"/>
          </a:xfrm>
          <a:prstGeom prst="rect">
            <a:avLst/>
          </a:prstGeom>
          <a:noFill/>
          <a:ln/>
        </p:spPr>
        <p:txBody>
          <a:bodyPr wrap="square" lIns="0" tIns="0" rIns="0" bIns="0" rtlCol="0" anchor="t"/>
          <a:lstStyle/>
          <a:p>
            <a:pPr indent="0" marL="0">
              <a:buNone/>
            </a:pPr>
            <a:r>
              <a:rPr lang="en-US" sz="1200" b="1" dirty="0">
                <a:solidFill>
                  <a:schemeClr val="accent1"/>
                </a:solidFill>
              </a:rPr>
              <a:t>Groq: gpt-oss-20b / 120b</a:t>
            </a:r>
            <a:endParaRPr lang="en-US" sz="1200" dirty="0"/>
          </a:p>
        </p:txBody>
      </p:sp>
      <p:sp>
        <p:nvSpPr>
          <p:cNvPr id="12" name="card-89"/>
          <p:cNvSpPr/>
          <p:nvPr/>
        </p:nvSpPr>
        <p:spPr>
          <a:xfrm>
            <a:off x="548640" y="2724912"/>
            <a:ext cx="2286000" cy="365760"/>
          </a:xfrm>
          <a:prstGeom prst="roundRect">
            <a:avLst>
              <a:gd name="adj" fmla="val 30000"/>
            </a:avLst>
          </a:prstGeom>
          <a:solidFill>
            <a:schemeClr val="accent6"/>
          </a:solidFill>
          <a:ln w="12700">
            <a:solidFill>
              <a:schemeClr val="accent6"/>
            </a:solidFill>
            <a:prstDash val="solid"/>
          </a:ln>
        </p:spPr>
      </p:sp>
      <p:sp>
        <p:nvSpPr>
          <p:cNvPr id="13" name="text-90"/>
          <p:cNvSpPr txBox="1"/>
          <p:nvPr/>
        </p:nvSpPr>
        <p:spPr>
          <a:xfrm>
            <a:off x="685800" y="2788920"/>
            <a:ext cx="2057400" cy="256032"/>
          </a:xfrm>
          <a:prstGeom prst="rect">
            <a:avLst/>
          </a:prstGeom>
          <a:noFill/>
          <a:ln/>
        </p:spPr>
        <p:txBody>
          <a:bodyPr wrap="square" lIns="0" tIns="0" rIns="0" bIns="0" rtlCol="0" anchor="t"/>
          <a:lstStyle/>
          <a:p>
            <a:pPr indent="0" marL="0">
              <a:buNone/>
            </a:pPr>
            <a:r>
              <a:rPr lang="en-US" sz="1200" b="1" dirty="0">
                <a:solidFill>
                  <a:schemeClr val="accent1"/>
                </a:solidFill>
              </a:rPr>
              <a:t>Groq: Whisper + Orpheus</a:t>
            </a:r>
            <a:endParaRPr lang="en-US" sz="1200" dirty="0"/>
          </a:p>
        </p:txBody>
      </p:sp>
      <p:sp>
        <p:nvSpPr>
          <p:cNvPr id="14" name="card-91"/>
          <p:cNvSpPr/>
          <p:nvPr/>
        </p:nvSpPr>
        <p:spPr>
          <a:xfrm>
            <a:off x="2944368" y="2724912"/>
            <a:ext cx="2286000" cy="365760"/>
          </a:xfrm>
          <a:prstGeom prst="roundRect">
            <a:avLst>
              <a:gd name="adj" fmla="val 30000"/>
            </a:avLst>
          </a:prstGeom>
          <a:solidFill>
            <a:schemeClr val="accent6"/>
          </a:solidFill>
          <a:ln w="12700">
            <a:solidFill>
              <a:schemeClr val="accent6"/>
            </a:solidFill>
            <a:prstDash val="solid"/>
          </a:ln>
        </p:spPr>
      </p:sp>
      <p:sp>
        <p:nvSpPr>
          <p:cNvPr id="15" name="text-92"/>
          <p:cNvSpPr txBox="1"/>
          <p:nvPr/>
        </p:nvSpPr>
        <p:spPr>
          <a:xfrm>
            <a:off x="3081528" y="2788920"/>
            <a:ext cx="2057400" cy="256032"/>
          </a:xfrm>
          <a:prstGeom prst="rect">
            <a:avLst/>
          </a:prstGeom>
          <a:noFill/>
          <a:ln/>
        </p:spPr>
        <p:txBody>
          <a:bodyPr wrap="square" lIns="0" tIns="0" rIns="0" bIns="0" rtlCol="0" anchor="t"/>
          <a:lstStyle/>
          <a:p>
            <a:pPr indent="0" marL="0">
              <a:buNone/>
            </a:pPr>
            <a:r>
              <a:rPr lang="en-US" sz="1200" b="1" dirty="0">
                <a:solidFill>
                  <a:schemeClr val="accent1"/>
                </a:solidFill>
              </a:rPr>
              <a:t>MediaPipe + COCO-SSD</a:t>
            </a:r>
            <a:endParaRPr lang="en-US" sz="1200" dirty="0"/>
          </a:p>
        </p:txBody>
      </p:sp>
      <p:sp>
        <p:nvSpPr>
          <p:cNvPr id="16" name="card-93"/>
          <p:cNvSpPr/>
          <p:nvPr/>
        </p:nvSpPr>
        <p:spPr>
          <a:xfrm>
            <a:off x="548640" y="3182112"/>
            <a:ext cx="2286000" cy="365760"/>
          </a:xfrm>
          <a:prstGeom prst="roundRect">
            <a:avLst>
              <a:gd name="adj" fmla="val 30000"/>
            </a:avLst>
          </a:prstGeom>
          <a:solidFill>
            <a:schemeClr val="accent6"/>
          </a:solidFill>
          <a:ln w="12700">
            <a:solidFill>
              <a:schemeClr val="accent6"/>
            </a:solidFill>
            <a:prstDash val="solid"/>
          </a:ln>
        </p:spPr>
      </p:sp>
      <p:sp>
        <p:nvSpPr>
          <p:cNvPr id="17" name="text-94"/>
          <p:cNvSpPr txBox="1"/>
          <p:nvPr/>
        </p:nvSpPr>
        <p:spPr>
          <a:xfrm>
            <a:off x="685800" y="3246120"/>
            <a:ext cx="2057400" cy="256032"/>
          </a:xfrm>
          <a:prstGeom prst="rect">
            <a:avLst/>
          </a:prstGeom>
          <a:noFill/>
          <a:ln/>
        </p:spPr>
        <p:txBody>
          <a:bodyPr wrap="square" lIns="0" tIns="0" rIns="0" bIns="0" rtlCol="0" anchor="t"/>
          <a:lstStyle/>
          <a:p>
            <a:pPr indent="0" marL="0">
              <a:buNone/>
            </a:pPr>
            <a:r>
              <a:rPr lang="en-US" sz="1200" b="1" dirty="0">
                <a:solidFill>
                  <a:schemeClr val="accent1"/>
                </a:solidFill>
              </a:rPr>
              <a:t>Kokoro-82M (ONNX)</a:t>
            </a:r>
            <a:endParaRPr lang="en-US" sz="1200" dirty="0"/>
          </a:p>
        </p:txBody>
      </p:sp>
      <p:sp>
        <p:nvSpPr>
          <p:cNvPr id="18" name="card-95"/>
          <p:cNvSpPr/>
          <p:nvPr/>
        </p:nvSpPr>
        <p:spPr>
          <a:xfrm>
            <a:off x="2944368" y="3182112"/>
            <a:ext cx="2286000" cy="365760"/>
          </a:xfrm>
          <a:prstGeom prst="roundRect">
            <a:avLst>
              <a:gd name="adj" fmla="val 30000"/>
            </a:avLst>
          </a:prstGeom>
          <a:solidFill>
            <a:schemeClr val="accent6"/>
          </a:solidFill>
          <a:ln w="12700">
            <a:solidFill>
              <a:schemeClr val="accent6"/>
            </a:solidFill>
            <a:prstDash val="solid"/>
          </a:ln>
        </p:spPr>
      </p:sp>
      <p:sp>
        <p:nvSpPr>
          <p:cNvPr id="19" name="text-96"/>
          <p:cNvSpPr txBox="1"/>
          <p:nvPr/>
        </p:nvSpPr>
        <p:spPr>
          <a:xfrm>
            <a:off x="3081528" y="3246120"/>
            <a:ext cx="2057400" cy="256032"/>
          </a:xfrm>
          <a:prstGeom prst="rect">
            <a:avLst/>
          </a:prstGeom>
          <a:noFill/>
          <a:ln/>
        </p:spPr>
        <p:txBody>
          <a:bodyPr wrap="square" lIns="0" tIns="0" rIns="0" bIns="0" rtlCol="0" anchor="t"/>
          <a:lstStyle/>
          <a:p>
            <a:pPr indent="0" marL="0">
              <a:buNone/>
            </a:pPr>
            <a:r>
              <a:rPr lang="en-US" sz="1200" b="1" dirty="0">
                <a:solidFill>
                  <a:schemeClr val="accent1"/>
                </a:solidFill>
              </a:rPr>
              <a:t>WebRTC · Vercel</a:t>
            </a:r>
            <a:endParaRPr lang="en-US" sz="1200" dirty="0"/>
          </a:p>
        </p:txBody>
      </p:sp>
      <p:sp>
        <p:nvSpPr>
          <p:cNvPr id="20" name="text-97"/>
          <p:cNvSpPr txBox="1"/>
          <p:nvPr/>
        </p:nvSpPr>
        <p:spPr>
          <a:xfrm>
            <a:off x="548640" y="3794760"/>
            <a:ext cx="4572000" cy="365760"/>
          </a:xfrm>
          <a:prstGeom prst="rect">
            <a:avLst/>
          </a:prstGeom>
          <a:noFill/>
          <a:ln/>
        </p:spPr>
        <p:txBody>
          <a:bodyPr wrap="square" lIns="0" tIns="0" rIns="0" bIns="0" rtlCol="0" anchor="t"/>
          <a:lstStyle/>
          <a:p>
            <a:pPr indent="0" marL="0">
              <a:buNone/>
            </a:pPr>
            <a:r>
              <a:rPr lang="en-US" sz="1800" b="1" dirty="0">
                <a:solidFill>
                  <a:schemeClr val="tx1"/>
                </a:solidFill>
              </a:rPr>
              <a:t>Engineering approach</a:t>
            </a:r>
            <a:endParaRPr lang="en-US" sz="1800" dirty="0"/>
          </a:p>
        </p:txBody>
      </p:sp>
      <p:sp>
        <p:nvSpPr>
          <p:cNvPr id="21" name="text-98"/>
          <p:cNvSpPr txBox="1"/>
          <p:nvPr/>
        </p:nvSpPr>
        <p:spPr>
          <a:xfrm>
            <a:off x="548640" y="4206240"/>
            <a:ext cx="4663440" cy="20116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Server-authoritative interview state machine</a:t>
            </a:r>
            <a:endParaRPr lang="en-US" sz="1400" dirty="0"/>
          </a:p>
          <a:p>
            <a:pPr marL="342900" indent="-342900">
              <a:spcAft>
                <a:spcPts val="600"/>
              </a:spcAft>
              <a:buSzPct val="100000"/>
              <a:buChar char="•"/>
            </a:pPr>
            <a:r>
              <a:rPr lang="en-US" sz="1400" dirty="0">
                <a:solidFill>
                  <a:schemeClr val="tx1"/>
                </a:solidFill>
              </a:rPr>
              <a:t>Voice-activity barge-in; 3-engine voice failover</a:t>
            </a:r>
            <a:endParaRPr lang="en-US" sz="1400" dirty="0"/>
          </a:p>
          <a:p>
            <a:pPr marL="342900" indent="-342900">
              <a:spcAft>
                <a:spcPts val="600"/>
              </a:spcAft>
              <a:buSzPct val="100000"/>
              <a:buChar char="•"/>
            </a:pPr>
            <a:r>
              <a:rPr lang="en-US" sz="1400" dirty="0">
                <a:solidFill>
                  <a:schemeClr val="tx1"/>
                </a:solidFill>
              </a:rPr>
              <a:t>10 s recording chunks, stitched for synced playback</a:t>
            </a:r>
            <a:endParaRPr lang="en-US" sz="1400" dirty="0"/>
          </a:p>
          <a:p>
            <a:pPr marL="342900" indent="-342900">
              <a:spcAft>
                <a:spcPts val="600"/>
              </a:spcAft>
              <a:buSzPct val="100000"/>
              <a:buChar char="•"/>
            </a:pPr>
            <a:r>
              <a:rPr lang="en-US" sz="1400" dirty="0">
                <a:solidFill>
                  <a:schemeClr val="tx1"/>
                </a:solidFill>
              </a:rPr>
              <a:t>Resumable background evaluator; row-level security</a:t>
            </a:r>
            <a:endParaRPr lang="en-US" sz="1400" dirty="0"/>
          </a:p>
        </p:txBody>
      </p:sp>
      <p:graphicFrame>
        <p:nvGraphicFramePr>
          <p:cNvPr id="8" name="table-99"/>
          <p:cNvGraphicFramePr>
            <a:graphicFrameLocks noGrp="1"/>
          </p:cNvGraphicFramePr>
          <p:nvPr>
            <p:extLst>
              <p:ext uri="{D42A27DB-BD31-4B8C-83A1-F6EECF244321}">
                <p14:modId xmlns:p14="http://schemas.microsoft.com/office/powerpoint/2010/main" val="1579011935"/>
              </p:ext>
            </p:extLst>
          </p:nvPr>
        </p:nvGraphicFramePr>
        <p:xfrm>
          <a:off x="5486400" y="1417320"/>
          <a:ext cx="6153912" cy="914400"/>
        </p:xfrm>
        <a:graphic>
          <a:graphicData uri="http://schemas.openxmlformats.org/drawingml/2006/table">
            <a:tbl>
              <a:tblPr/>
              <a:tblGrid>
                <a:gridCol w="1874520"/>
                <a:gridCol w="2496312"/>
                <a:gridCol w="1783080"/>
              </a:tblGrid>
              <a:tr h="384048">
                <a:tc>
                  <a:txBody>
                    <a:bodyPr/>
                    <a:lstStyle/>
                    <a:p>
                      <a:pPr indent="0" marL="0">
                        <a:buNone/>
                      </a:pPr>
                      <a:r>
                        <a:rPr lang="en-US" sz="1200" b="1" dirty="0">
                          <a:solidFill>
                            <a:schemeClr val="accent1"/>
                          </a:solidFill>
                          <a:latin typeface="Arial" pitchFamily="34" charset="0"/>
                          <a:ea typeface="Arial" pitchFamily="34" charset="-122"/>
                          <a:cs typeface="Arial" pitchFamily="34" charset="-120"/>
                        </a:rPr>
                        <a:t>Challenge</a:t>
                      </a:r>
                      <a:endParaRPr lang="en-US" sz="1200" dirty="0">
                        <a:latin typeface="Arial" charset="0"/>
                        <a:ea typeface="Arial" charset="0"/>
                        <a:cs typeface="Arial" charset="0"/>
                      </a:endParaRPr>
                    </a:p>
                  </a:txBody>
                  <a:tcPr marL="91440" marR="91440" marT="64008" marB="64008"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accent6"/>
                    </a:solidFill>
                  </a:tcPr>
                </a:tc>
                <a:tc>
                  <a:txBody>
                    <a:bodyPr/>
                    <a:lstStyle/>
                    <a:p>
                      <a:pPr indent="0" marL="0">
                        <a:buNone/>
                      </a:pPr>
                      <a:r>
                        <a:rPr lang="en-US" sz="1200" b="1" dirty="0">
                          <a:solidFill>
                            <a:schemeClr val="accent1"/>
                          </a:solidFill>
                          <a:latin typeface="Arial" pitchFamily="34" charset="0"/>
                          <a:ea typeface="Arial" pitchFamily="34" charset="-122"/>
                          <a:cs typeface="Arial" pitchFamily="34" charset="-120"/>
                        </a:rPr>
                        <a:t>What we did</a:t>
                      </a:r>
                      <a:endParaRPr lang="en-US" sz="1200" dirty="0">
                        <a:latin typeface="Arial" charset="0"/>
                        <a:ea typeface="Arial" charset="0"/>
                        <a:cs typeface="Arial" charset="0"/>
                      </a:endParaRPr>
                    </a:p>
                  </a:txBody>
                  <a:tcPr marL="91440" marR="91440" marT="64008" marB="64008"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accent6"/>
                    </a:solidFill>
                  </a:tcPr>
                </a:tc>
                <a:tc>
                  <a:txBody>
                    <a:bodyPr/>
                    <a:lstStyle/>
                    <a:p>
                      <a:pPr indent="0" marL="0">
                        <a:buNone/>
                      </a:pPr>
                      <a:r>
                        <a:rPr lang="en-US" sz="1200" b="1" dirty="0">
                          <a:solidFill>
                            <a:schemeClr val="accent1"/>
                          </a:solidFill>
                          <a:latin typeface="Arial" pitchFamily="34" charset="0"/>
                          <a:ea typeface="Arial" pitchFamily="34" charset="-122"/>
                          <a:cs typeface="Arial" pitchFamily="34" charset="-120"/>
                        </a:rPr>
                        <a:t>Result</a:t>
                      </a:r>
                      <a:endParaRPr lang="en-US" sz="1200" dirty="0">
                        <a:latin typeface="Arial" charset="0"/>
                        <a:ea typeface="Arial" charset="0"/>
                        <a:cs typeface="Arial" charset="0"/>
                      </a:endParaRPr>
                    </a:p>
                  </a:txBody>
                  <a:tcPr marL="91440" marR="91440" marT="64008" marB="64008"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accent6"/>
                    </a:solidFill>
                  </a:tcPr>
                </a:tc>
              </a:tr>
              <a:tr h="731520">
                <a:tc>
                  <a:txBody>
                    <a:bodyPr/>
                    <a:lstStyle/>
                    <a:p>
                      <a:pPr indent="0" marL="0">
                        <a:buNone/>
                      </a:pPr>
                      <a:r>
                        <a:rPr lang="en-US" sz="1200" dirty="0">
                          <a:solidFill>
                            <a:schemeClr val="tx1"/>
                          </a:solidFill>
                          <a:latin typeface="Arial" pitchFamily="34" charset="0"/>
                          <a:ea typeface="Arial" pitchFamily="34" charset="-122"/>
                          <a:cs typeface="Arial" pitchFamily="34" charset="-120"/>
                        </a:rPr>
                        <a:t>Voice silent ~25 s before speaking</a:t>
                      </a:r>
                      <a:endParaRPr lang="en-US" sz="1200" dirty="0">
                        <a:latin typeface="Arial" charset="0"/>
                        <a:ea typeface="Arial" charset="0"/>
                        <a:cs typeface="Arial" charset="0"/>
                      </a:endParaRPr>
                    </a:p>
                  </a:txBody>
                  <a:tcPr marL="91440" marR="91440" marT="64008" marB="64008"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200" dirty="0">
                          <a:solidFill>
                            <a:schemeClr val="tx1"/>
                          </a:solidFill>
                          <a:latin typeface="Arial" pitchFamily="34" charset="0"/>
                          <a:ea typeface="Arial" pitchFamily="34" charset="-122"/>
                          <a:cs typeface="Arial" pitchFamily="34" charset="-120"/>
                        </a:rPr>
                        <a:t>Moved voice inference to a Web Worker with a priority queue</a:t>
                      </a:r>
                      <a:endParaRPr lang="en-US" sz="1200" dirty="0">
                        <a:latin typeface="Arial" charset="0"/>
                        <a:ea typeface="Arial" charset="0"/>
                        <a:cs typeface="Arial" charset="0"/>
                      </a:endParaRPr>
                    </a:p>
                  </a:txBody>
                  <a:tcPr marL="91440" marR="91440" marT="64008" marB="64008"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200" dirty="0">
                          <a:solidFill>
                            <a:schemeClr val="tx1"/>
                          </a:solidFill>
                          <a:latin typeface="Arial" pitchFamily="34" charset="0"/>
                          <a:ea typeface="Arial" pitchFamily="34" charset="-122"/>
                          <a:cs typeface="Arial" pitchFamily="34" charset="-120"/>
                        </a:rPr>
                        <a:t>Follow-ups start in 5–10 s</a:t>
                      </a:r>
                      <a:endParaRPr lang="en-US" sz="1200" dirty="0">
                        <a:latin typeface="Arial" charset="0"/>
                        <a:ea typeface="Arial" charset="0"/>
                        <a:cs typeface="Arial" charset="0"/>
                      </a:endParaRPr>
                    </a:p>
                  </a:txBody>
                  <a:tcPr marL="91440" marR="91440" marT="64008" marB="64008"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r>
              <a:tr h="731520">
                <a:tc>
                  <a:txBody>
                    <a:bodyPr/>
                    <a:lstStyle/>
                    <a:p>
                      <a:pPr indent="0" marL="0">
                        <a:buNone/>
                      </a:pPr>
                      <a:r>
                        <a:rPr lang="en-US" sz="1200" dirty="0">
                          <a:solidFill>
                            <a:schemeClr val="tx1"/>
                          </a:solidFill>
                          <a:latin typeface="Arial" pitchFamily="34" charset="0"/>
                          <a:ea typeface="Arial" pitchFamily="34" charset="-122"/>
                          <a:cs typeface="Arial" pitchFamily="34" charset="-120"/>
                        </a:rPr>
                        <a:t>Serverless time limits</a:t>
                      </a:r>
                      <a:endParaRPr lang="en-US" sz="1200" dirty="0">
                        <a:latin typeface="Arial" charset="0"/>
                        <a:ea typeface="Arial" charset="0"/>
                        <a:cs typeface="Arial" charset="0"/>
                      </a:endParaRPr>
                    </a:p>
                  </a:txBody>
                  <a:tcPr marL="91440" marR="91440" marT="64008" marB="64008"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200" dirty="0">
                          <a:solidFill>
                            <a:schemeClr val="tx1"/>
                          </a:solidFill>
                          <a:latin typeface="Arial" pitchFamily="34" charset="0"/>
                          <a:ea typeface="Arial" pitchFamily="34" charset="-122"/>
                          <a:cs typeface="Arial" pitchFamily="34" charset="-120"/>
                        </a:rPr>
                        <a:t>Evaluation split into resumable 40 s steps</a:t>
                      </a:r>
                      <a:endParaRPr lang="en-US" sz="1200" dirty="0">
                        <a:latin typeface="Arial" charset="0"/>
                        <a:ea typeface="Arial" charset="0"/>
                        <a:cs typeface="Arial" charset="0"/>
                      </a:endParaRPr>
                    </a:p>
                  </a:txBody>
                  <a:tcPr marL="91440" marR="91440" marT="64008" marB="64008"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200" dirty="0">
                          <a:solidFill>
                            <a:schemeClr val="tx1"/>
                          </a:solidFill>
                          <a:latin typeface="Arial" pitchFamily="34" charset="0"/>
                          <a:ea typeface="Arial" pitchFamily="34" charset="-122"/>
                          <a:cs typeface="Arial" pitchFamily="34" charset="-120"/>
                        </a:rPr>
                        <a:t>No timeouts; safe retries</a:t>
                      </a:r>
                      <a:endParaRPr lang="en-US" sz="1200" dirty="0">
                        <a:latin typeface="Arial" charset="0"/>
                        <a:ea typeface="Arial" charset="0"/>
                        <a:cs typeface="Arial" charset="0"/>
                      </a:endParaRPr>
                    </a:p>
                  </a:txBody>
                  <a:tcPr marL="91440" marR="91440" marT="64008" marB="64008"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r>
              <a:tr h="731520">
                <a:tc>
                  <a:txBody>
                    <a:bodyPr/>
                    <a:lstStyle/>
                    <a:p>
                      <a:pPr indent="0" marL="0">
                        <a:buNone/>
                      </a:pPr>
                      <a:r>
                        <a:rPr lang="en-US" sz="1200" dirty="0">
                          <a:solidFill>
                            <a:schemeClr val="tx1"/>
                          </a:solidFill>
                          <a:latin typeface="Arial" pitchFamily="34" charset="0"/>
                          <a:ea typeface="Arial" pitchFamily="34" charset="-122"/>
                          <a:cs typeface="Arial" pitchFamily="34" charset="-120"/>
                        </a:rPr>
                        <a:t>Prompt injection in answers</a:t>
                      </a:r>
                      <a:endParaRPr lang="en-US" sz="1200" dirty="0">
                        <a:latin typeface="Arial" charset="0"/>
                        <a:ea typeface="Arial" charset="0"/>
                        <a:cs typeface="Arial" charset="0"/>
                      </a:endParaRPr>
                    </a:p>
                  </a:txBody>
                  <a:tcPr marL="91440" marR="91440" marT="64008" marB="64008"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200" dirty="0">
                          <a:solidFill>
                            <a:schemeClr val="tx1"/>
                          </a:solidFill>
                          <a:latin typeface="Arial" pitchFamily="34" charset="0"/>
                          <a:ea typeface="Arial" pitchFamily="34" charset="-122"/>
                          <a:cs typeface="Arial" pitchFamily="34" charset="-120"/>
                        </a:rPr>
                        <a:t>Transcript fenced as untrusted data; attempts flagged</a:t>
                      </a:r>
                      <a:endParaRPr lang="en-US" sz="1200" dirty="0">
                        <a:latin typeface="Arial" charset="0"/>
                        <a:ea typeface="Arial" charset="0"/>
                        <a:cs typeface="Arial" charset="0"/>
                      </a:endParaRPr>
                    </a:p>
                  </a:txBody>
                  <a:tcPr marL="91440" marR="91440" marT="64008" marB="64008"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200" dirty="0">
                          <a:solidFill>
                            <a:schemeClr val="tx1"/>
                          </a:solidFill>
                          <a:latin typeface="Arial" pitchFamily="34" charset="0"/>
                          <a:ea typeface="Arial" pitchFamily="34" charset="-122"/>
                          <a:cs typeface="Arial" pitchFamily="34" charset="-120"/>
                        </a:rPr>
                        <a:t>Injection answer scored 3–4/10</a:t>
                      </a:r>
                      <a:endParaRPr lang="en-US" sz="1200" dirty="0">
                        <a:latin typeface="Arial" charset="0"/>
                        <a:ea typeface="Arial" charset="0"/>
                        <a:cs typeface="Arial" charset="0"/>
                      </a:endParaRPr>
                    </a:p>
                  </a:txBody>
                  <a:tcPr marL="91440" marR="91440" marT="64008" marB="64008"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r>
              <a:tr h="731520">
                <a:tc>
                  <a:txBody>
                    <a:bodyPr/>
                    <a:lstStyle/>
                    <a:p>
                      <a:pPr indent="0" marL="0">
                        <a:buNone/>
                      </a:pPr>
                      <a:r>
                        <a:rPr lang="en-US" sz="1200" dirty="0">
                          <a:solidFill>
                            <a:schemeClr val="tx1"/>
                          </a:solidFill>
                          <a:latin typeface="Arial" pitchFamily="34" charset="0"/>
                          <a:ea typeface="Arial" pitchFamily="34" charset="-122"/>
                          <a:cs typeface="Arial" pitchFamily="34" charset="-120"/>
                        </a:rPr>
                        <a:t>Browsers without system voices</a:t>
                      </a:r>
                      <a:endParaRPr lang="en-US" sz="1200" dirty="0">
                        <a:latin typeface="Arial" charset="0"/>
                        <a:ea typeface="Arial" charset="0"/>
                        <a:cs typeface="Arial" charset="0"/>
                      </a:endParaRPr>
                    </a:p>
                  </a:txBody>
                  <a:tcPr marL="91440" marR="91440" marT="64008" marB="64008"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200" dirty="0">
                          <a:solidFill>
                            <a:schemeClr val="tx1"/>
                          </a:solidFill>
                          <a:latin typeface="Arial" pitchFamily="34" charset="0"/>
                          <a:ea typeface="Arial" pitchFamily="34" charset="-122"/>
                          <a:cs typeface="Arial" pitchFamily="34" charset="-120"/>
                        </a:rPr>
                        <a:t>Browser voice → Orpheus → Kokoro failover</a:t>
                      </a:r>
                      <a:endParaRPr lang="en-US" sz="1200" dirty="0">
                        <a:latin typeface="Arial" charset="0"/>
                        <a:ea typeface="Arial" charset="0"/>
                        <a:cs typeface="Arial" charset="0"/>
                      </a:endParaRPr>
                    </a:p>
                  </a:txBody>
                  <a:tcPr marL="91440" marR="91440" marT="64008" marB="64008"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200" dirty="0">
                          <a:solidFill>
                            <a:schemeClr val="tx1"/>
                          </a:solidFill>
                          <a:latin typeface="Arial" pitchFamily="34" charset="0"/>
                          <a:ea typeface="Arial" pitchFamily="34" charset="-122"/>
                          <a:cs typeface="Arial" pitchFamily="34" charset="-120"/>
                        </a:rPr>
                        <a:t>A voice is always available</a:t>
                      </a:r>
                      <a:endParaRPr lang="en-US" sz="1200" dirty="0">
                        <a:latin typeface="Arial" charset="0"/>
                        <a:ea typeface="Arial" charset="0"/>
                        <a:cs typeface="Arial" charset="0"/>
                      </a:endParaRPr>
                    </a:p>
                  </a:txBody>
                  <a:tcPr marL="91440" marR="91440" marT="64008" marB="64008"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r>
              <a:tr h="731520">
                <a:tc>
                  <a:txBody>
                    <a:bodyPr/>
                    <a:lstStyle/>
                    <a:p>
                      <a:pPr indent="0" marL="0">
                        <a:buNone/>
                      </a:pPr>
                      <a:r>
                        <a:rPr lang="en-US" sz="1200" dirty="0">
                          <a:solidFill>
                            <a:schemeClr val="tx1"/>
                          </a:solidFill>
                          <a:latin typeface="Arial" pitchFamily="34" charset="0"/>
                          <a:ea typeface="Arial" pitchFamily="34" charset="-122"/>
                          <a:cs typeface="Arial" pitchFamily="34" charset="-120"/>
                        </a:rPr>
                        <a:t>PDF parsing failed on Vercel</a:t>
                      </a:r>
                      <a:endParaRPr lang="en-US" sz="1200" dirty="0">
                        <a:latin typeface="Arial" charset="0"/>
                        <a:ea typeface="Arial" charset="0"/>
                        <a:cs typeface="Arial" charset="0"/>
                      </a:endParaRPr>
                    </a:p>
                  </a:txBody>
                  <a:tcPr marL="91440" marR="91440" marT="64008" marB="64008"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200" dirty="0">
                          <a:solidFill>
                            <a:schemeClr val="tx1"/>
                          </a:solidFill>
                          <a:latin typeface="Arial" pitchFamily="34" charset="0"/>
                          <a:ea typeface="Arial" pitchFamily="34" charset="-122"/>
                          <a:cs typeface="Arial" pitchFamily="34" charset="-120"/>
                        </a:rPr>
                        <a:t>Bundled the pdf.js worker</a:t>
                      </a:r>
                      <a:endParaRPr lang="en-US" sz="1200" dirty="0">
                        <a:latin typeface="Arial" charset="0"/>
                        <a:ea typeface="Arial" charset="0"/>
                        <a:cs typeface="Arial" charset="0"/>
                      </a:endParaRPr>
                    </a:p>
                  </a:txBody>
                  <a:tcPr marL="91440" marR="91440" marT="64008" marB="64008"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200" dirty="0">
                          <a:solidFill>
                            <a:schemeClr val="tx1"/>
                          </a:solidFill>
                          <a:latin typeface="Arial" pitchFamily="34" charset="0"/>
                          <a:ea typeface="Arial" pitchFamily="34" charset="-122"/>
                          <a:cs typeface="Arial" pitchFamily="34" charset="-120"/>
                        </a:rPr>
                        <a:t>Resume parsing works in production</a:t>
                      </a:r>
                      <a:endParaRPr lang="en-US" sz="1200" dirty="0">
                        <a:latin typeface="Arial" charset="0"/>
                        <a:ea typeface="Arial" charset="0"/>
                        <a:cs typeface="Arial" charset="0"/>
                      </a:endParaRPr>
                    </a:p>
                  </a:txBody>
                  <a:tcPr marL="91440" marR="91440" marT="64008" marB="64008"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31520"/>
          </a:xfrm>
          <a:prstGeom prst="rect">
            <a:avLst/>
          </a:prstGeom>
          <a:noFill/>
          <a:ln/>
        </p:spPr>
        <p:txBody>
          <a:bodyPr wrap="square" lIns="0" tIns="0" rIns="0" bIns="0" rtlCol="0" anchor="ctr"/>
          <a:lstStyle/>
          <a:p>
            <a:pPr indent="0" marL="0">
              <a:buNone/>
            </a:pPr>
            <a:r>
              <a:rPr lang="en-US" sz="3000" b="1" dirty="0">
                <a:solidFill>
                  <a:schemeClr val="tx1"/>
                </a:solidFill>
              </a:rPr>
              <a:t>Results: measured, not estimated</a:t>
            </a:r>
            <a:endParaRPr lang="en-US" sz="3000" dirty="0"/>
          </a:p>
        </p:txBody>
      </p:sp>
      <p:sp>
        <p:nvSpPr>
          <p:cNvPr id="3" name="text-100"/>
          <p:cNvSpPr txBox="1"/>
          <p:nvPr/>
        </p:nvSpPr>
        <p:spPr>
          <a:xfrm>
            <a:off x="548640" y="1188720"/>
            <a:ext cx="10972800" cy="365760"/>
          </a:xfrm>
          <a:prstGeom prst="rect">
            <a:avLst/>
          </a:prstGeom>
          <a:noFill/>
          <a:ln/>
        </p:spPr>
        <p:txBody>
          <a:bodyPr wrap="square" lIns="0" tIns="0" rIns="0" bIns="0" rtlCol="0" anchor="t"/>
          <a:lstStyle/>
          <a:p>
            <a:pPr indent="0" marL="0">
              <a:buNone/>
            </a:pPr>
            <a:r>
              <a:rPr lang="en-US" sz="1500" dirty="0">
                <a:solidFill>
                  <a:schemeClr val="tx2"/>
                </a:solidFill>
              </a:rPr>
              <a:t>Full voice interviews pass all 11 end-to-end checks, locally and on the live Vercel site. 49 unit tests.</a:t>
            </a:r>
            <a:endParaRPr lang="en-US" sz="1500" dirty="0"/>
          </a:p>
        </p:txBody>
      </p:sp>
      <p:sp>
        <p:nvSpPr>
          <p:cNvPr id="4" name="card-101"/>
          <p:cNvSpPr/>
          <p:nvPr/>
        </p:nvSpPr>
        <p:spPr>
          <a:xfrm>
            <a:off x="548640" y="1737360"/>
            <a:ext cx="2651760" cy="1417320"/>
          </a:xfrm>
          <a:prstGeom prst="roundRect">
            <a:avLst>
              <a:gd name="adj" fmla="val 7742"/>
            </a:avLst>
          </a:prstGeom>
          <a:solidFill>
            <a:schemeClr val="bg2"/>
          </a:solidFill>
          <a:ln w="12700">
            <a:solidFill>
              <a:schemeClr val="bg2"/>
            </a:solidFill>
            <a:prstDash val="solid"/>
          </a:ln>
        </p:spPr>
      </p:sp>
      <p:sp>
        <p:nvSpPr>
          <p:cNvPr id="5" name="text-102"/>
          <p:cNvSpPr txBox="1"/>
          <p:nvPr/>
        </p:nvSpPr>
        <p:spPr>
          <a:xfrm>
            <a:off x="777240" y="1874520"/>
            <a:ext cx="2286000" cy="640080"/>
          </a:xfrm>
          <a:prstGeom prst="rect">
            <a:avLst/>
          </a:prstGeom>
          <a:noFill/>
          <a:ln/>
        </p:spPr>
        <p:txBody>
          <a:bodyPr wrap="square" lIns="0" tIns="0" rIns="0" bIns="0" rtlCol="0" anchor="t"/>
          <a:lstStyle/>
          <a:p>
            <a:pPr indent="0" marL="0">
              <a:buNone/>
            </a:pPr>
            <a:r>
              <a:rPr lang="en-US" sz="3200" b="1" dirty="0">
                <a:solidFill>
                  <a:schemeClr val="accent1"/>
                </a:solidFill>
              </a:rPr>
              <a:t>55/55</a:t>
            </a:r>
            <a:endParaRPr lang="en-US" sz="3200" dirty="0"/>
          </a:p>
        </p:txBody>
      </p:sp>
      <p:sp>
        <p:nvSpPr>
          <p:cNvPr id="6" name="text-103"/>
          <p:cNvSpPr txBox="1"/>
          <p:nvPr/>
        </p:nvSpPr>
        <p:spPr>
          <a:xfrm>
            <a:off x="777240" y="2560320"/>
            <a:ext cx="2286000" cy="502920"/>
          </a:xfrm>
          <a:prstGeom prst="rect">
            <a:avLst/>
          </a:prstGeom>
          <a:noFill/>
          <a:ln/>
        </p:spPr>
        <p:txBody>
          <a:bodyPr wrap="square" lIns="0" tIns="0" rIns="0" bIns="0" rtlCol="0" anchor="t"/>
          <a:lstStyle/>
          <a:p>
            <a:pPr indent="0" marL="0">
              <a:buNone/>
            </a:pPr>
            <a:r>
              <a:rPr lang="en-US" sz="1300" dirty="0">
                <a:solidFill>
                  <a:schemeClr val="tx1"/>
                </a:solidFill>
              </a:rPr>
              <a:t>data-isolation checks</a:t>
            </a:r>
            <a:endParaRPr lang="en-US" sz="1300" dirty="0"/>
          </a:p>
        </p:txBody>
      </p:sp>
      <p:sp>
        <p:nvSpPr>
          <p:cNvPr id="7" name="card-104"/>
          <p:cNvSpPr/>
          <p:nvPr/>
        </p:nvSpPr>
        <p:spPr>
          <a:xfrm>
            <a:off x="3355848" y="1737360"/>
            <a:ext cx="2651760" cy="1417320"/>
          </a:xfrm>
          <a:prstGeom prst="roundRect">
            <a:avLst>
              <a:gd name="adj" fmla="val 7742"/>
            </a:avLst>
          </a:prstGeom>
          <a:solidFill>
            <a:schemeClr val="bg2"/>
          </a:solidFill>
          <a:ln w="12700">
            <a:solidFill>
              <a:schemeClr val="bg2"/>
            </a:solidFill>
            <a:prstDash val="solid"/>
          </a:ln>
        </p:spPr>
      </p:sp>
      <p:sp>
        <p:nvSpPr>
          <p:cNvPr id="8" name="text-105"/>
          <p:cNvSpPr txBox="1"/>
          <p:nvPr/>
        </p:nvSpPr>
        <p:spPr>
          <a:xfrm>
            <a:off x="3584448" y="1874520"/>
            <a:ext cx="2286000" cy="640080"/>
          </a:xfrm>
          <a:prstGeom prst="rect">
            <a:avLst/>
          </a:prstGeom>
          <a:noFill/>
          <a:ln/>
        </p:spPr>
        <p:txBody>
          <a:bodyPr wrap="square" lIns="0" tIns="0" rIns="0" bIns="0" rtlCol="0" anchor="t"/>
          <a:lstStyle/>
          <a:p>
            <a:pPr indent="0" marL="0">
              <a:buNone/>
            </a:pPr>
            <a:r>
              <a:rPr lang="en-US" sz="3200" b="1" dirty="0">
                <a:solidFill>
                  <a:schemeClr val="accent1"/>
                </a:solidFill>
              </a:rPr>
              <a:t>21/21</a:t>
            </a:r>
            <a:endParaRPr lang="en-US" sz="3200" dirty="0"/>
          </a:p>
        </p:txBody>
      </p:sp>
      <p:sp>
        <p:nvSpPr>
          <p:cNvPr id="9" name="text-106"/>
          <p:cNvSpPr txBox="1"/>
          <p:nvPr/>
        </p:nvSpPr>
        <p:spPr>
          <a:xfrm>
            <a:off x="3584448" y="2560320"/>
            <a:ext cx="2286000" cy="502920"/>
          </a:xfrm>
          <a:prstGeom prst="rect">
            <a:avLst/>
          </a:prstGeom>
          <a:noFill/>
          <a:ln/>
        </p:spPr>
        <p:txBody>
          <a:bodyPr wrap="square" lIns="0" tIns="0" rIns="0" bIns="0" rtlCol="0" anchor="t"/>
          <a:lstStyle/>
          <a:p>
            <a:pPr indent="0" marL="0">
              <a:buNone/>
            </a:pPr>
            <a:r>
              <a:rPr lang="en-US" sz="1300" dirty="0">
                <a:solidFill>
                  <a:schemeClr val="tx1"/>
                </a:solidFill>
              </a:rPr>
              <a:t>review playback and seek checks</a:t>
            </a:r>
            <a:endParaRPr lang="en-US" sz="1300" dirty="0"/>
          </a:p>
        </p:txBody>
      </p:sp>
      <p:sp>
        <p:nvSpPr>
          <p:cNvPr id="10" name="card-107"/>
          <p:cNvSpPr/>
          <p:nvPr/>
        </p:nvSpPr>
        <p:spPr>
          <a:xfrm>
            <a:off x="6163056" y="1737360"/>
            <a:ext cx="2651760" cy="1417320"/>
          </a:xfrm>
          <a:prstGeom prst="roundRect">
            <a:avLst>
              <a:gd name="adj" fmla="val 7742"/>
            </a:avLst>
          </a:prstGeom>
          <a:solidFill>
            <a:schemeClr val="bg2"/>
          </a:solidFill>
          <a:ln w="12700">
            <a:solidFill>
              <a:schemeClr val="bg2"/>
            </a:solidFill>
            <a:prstDash val="solid"/>
          </a:ln>
        </p:spPr>
      </p:sp>
      <p:sp>
        <p:nvSpPr>
          <p:cNvPr id="11" name="text-108"/>
          <p:cNvSpPr txBox="1"/>
          <p:nvPr/>
        </p:nvSpPr>
        <p:spPr>
          <a:xfrm>
            <a:off x="6391656" y="1874520"/>
            <a:ext cx="2286000" cy="640080"/>
          </a:xfrm>
          <a:prstGeom prst="rect">
            <a:avLst/>
          </a:prstGeom>
          <a:noFill/>
          <a:ln/>
        </p:spPr>
        <p:txBody>
          <a:bodyPr wrap="square" lIns="0" tIns="0" rIns="0" bIns="0" rtlCol="0" anchor="t"/>
          <a:lstStyle/>
          <a:p>
            <a:pPr indent="0" marL="0">
              <a:buNone/>
            </a:pPr>
            <a:r>
              <a:rPr lang="en-US" sz="3200" b="1" dirty="0">
                <a:solidFill>
                  <a:schemeClr val="accent1"/>
                </a:solidFill>
              </a:rPr>
              <a:t>100%</a:t>
            </a:r>
            <a:endParaRPr lang="en-US" sz="3200" dirty="0"/>
          </a:p>
        </p:txBody>
      </p:sp>
      <p:sp>
        <p:nvSpPr>
          <p:cNvPr id="12" name="text-109"/>
          <p:cNvSpPr txBox="1"/>
          <p:nvPr/>
        </p:nvSpPr>
        <p:spPr>
          <a:xfrm>
            <a:off x="6391656" y="2560320"/>
            <a:ext cx="2286000" cy="502920"/>
          </a:xfrm>
          <a:prstGeom prst="rect">
            <a:avLst/>
          </a:prstGeom>
          <a:noFill/>
          <a:ln/>
        </p:spPr>
        <p:txBody>
          <a:bodyPr wrap="square" lIns="0" tIns="0" rIns="0" bIns="0" rtlCol="0" anchor="t"/>
          <a:lstStyle/>
          <a:p>
            <a:pPr indent="0" marL="0">
              <a:buNone/>
            </a:pPr>
            <a:r>
              <a:rPr lang="en-US" sz="1300" dirty="0">
                <a:solidFill>
                  <a:schemeClr val="tx1"/>
                </a:solidFill>
              </a:rPr>
              <a:t>evidence quotes verified</a:t>
            </a:r>
            <a:endParaRPr lang="en-US" sz="1300" dirty="0"/>
          </a:p>
        </p:txBody>
      </p:sp>
      <p:sp>
        <p:nvSpPr>
          <p:cNvPr id="13" name="card-110"/>
          <p:cNvSpPr/>
          <p:nvPr/>
        </p:nvSpPr>
        <p:spPr>
          <a:xfrm>
            <a:off x="8970264" y="1737360"/>
            <a:ext cx="2651760" cy="1417320"/>
          </a:xfrm>
          <a:prstGeom prst="roundRect">
            <a:avLst>
              <a:gd name="adj" fmla="val 7742"/>
            </a:avLst>
          </a:prstGeom>
          <a:solidFill>
            <a:schemeClr val="bg2"/>
          </a:solidFill>
          <a:ln w="12700">
            <a:solidFill>
              <a:schemeClr val="bg2"/>
            </a:solidFill>
            <a:prstDash val="solid"/>
          </a:ln>
        </p:spPr>
      </p:sp>
      <p:sp>
        <p:nvSpPr>
          <p:cNvPr id="14" name="text-111"/>
          <p:cNvSpPr txBox="1"/>
          <p:nvPr/>
        </p:nvSpPr>
        <p:spPr>
          <a:xfrm>
            <a:off x="9198864" y="1874520"/>
            <a:ext cx="2286000" cy="640080"/>
          </a:xfrm>
          <a:prstGeom prst="rect">
            <a:avLst/>
          </a:prstGeom>
          <a:noFill/>
          <a:ln/>
        </p:spPr>
        <p:txBody>
          <a:bodyPr wrap="square" lIns="0" tIns="0" rIns="0" bIns="0" rtlCol="0" anchor="t"/>
          <a:lstStyle/>
          <a:p>
            <a:pPr indent="0" marL="0">
              <a:buNone/>
            </a:pPr>
            <a:r>
              <a:rPr lang="en-US" sz="3200" b="1" dirty="0">
                <a:solidFill>
                  <a:schemeClr val="accent1"/>
                </a:solidFill>
              </a:rPr>
              <a:t>3–4/10</a:t>
            </a:r>
            <a:endParaRPr lang="en-US" sz="3200" dirty="0"/>
          </a:p>
        </p:txBody>
      </p:sp>
      <p:sp>
        <p:nvSpPr>
          <p:cNvPr id="15" name="text-112"/>
          <p:cNvSpPr txBox="1"/>
          <p:nvPr/>
        </p:nvSpPr>
        <p:spPr>
          <a:xfrm>
            <a:off x="9198864" y="2560320"/>
            <a:ext cx="2286000" cy="502920"/>
          </a:xfrm>
          <a:prstGeom prst="rect">
            <a:avLst/>
          </a:prstGeom>
          <a:noFill/>
          <a:ln/>
        </p:spPr>
        <p:txBody>
          <a:bodyPr wrap="square" lIns="0" tIns="0" rIns="0" bIns="0" rtlCol="0" anchor="t"/>
          <a:lstStyle/>
          <a:p>
            <a:pPr indent="0" marL="0">
              <a:buNone/>
            </a:pPr>
            <a:r>
              <a:rPr lang="en-US" sz="1300" dirty="0">
                <a:solidFill>
                  <a:schemeClr val="tx1"/>
                </a:solidFill>
              </a:rPr>
              <a:t>score for a prompt-injection answer, flagged</a:t>
            </a:r>
            <a:endParaRPr lang="en-US" sz="1300" dirty="0"/>
          </a:p>
        </p:txBody>
      </p:sp>
      <p:graphicFrame>
        <p:nvGraphicFramePr>
          <p:cNvPr id="16" name="chart-113" descr=""/>
          <p:cNvGraphicFramePr/>
          <p:nvPr/>
        </p:nvGraphicFramePr>
        <p:xfrm>
          <a:off x="548640" y="3429000"/>
          <a:ext cx="6035040" cy="2697480"/>
        </p:xfrm>
        <a:graphic xmlns:a="http://schemas.openxmlformats.org/drawingml/2006/main">
          <a:graphicData uri="http://schemas.openxmlformats.org/drawingml/2006/chart">
            <c:chart xmlns:c="http://schemas.openxmlformats.org/drawingml/2006/chart" r:id="rId1"/>
          </a:graphicData>
        </a:graphic>
      </p:graphicFrame>
      <p:sp>
        <p:nvSpPr>
          <p:cNvPr id="17" name="text-114"/>
          <p:cNvSpPr txBox="1"/>
          <p:nvPr/>
        </p:nvSpPr>
        <p:spPr>
          <a:xfrm>
            <a:off x="548640" y="6144768"/>
            <a:ext cx="6035040" cy="292608"/>
          </a:xfrm>
          <a:prstGeom prst="rect">
            <a:avLst/>
          </a:prstGeom>
          <a:noFill/>
          <a:ln/>
        </p:spPr>
        <p:txBody>
          <a:bodyPr wrap="square" lIns="0" tIns="0" rIns="0" bIns="0" rtlCol="0" anchor="t"/>
          <a:lstStyle/>
          <a:p>
            <a:pPr indent="0" marL="0">
              <a:buNone/>
            </a:pPr>
            <a:r>
              <a:rPr lang="en-US" sz="1100" dirty="0">
                <a:solidFill>
                  <a:schemeClr val="tx2"/>
                </a:solidFill>
              </a:rPr>
              <a:t>On-device voice, headless Chromium, after the 5 s answer wait. Cloud voice: 0.34 s.</a:t>
            </a:r>
            <a:endParaRPr lang="en-US" sz="1100" dirty="0"/>
          </a:p>
        </p:txBody>
      </p:sp>
      <p:sp>
        <p:nvSpPr>
          <p:cNvPr id="18" name="card-115"/>
          <p:cNvSpPr/>
          <p:nvPr/>
        </p:nvSpPr>
        <p:spPr>
          <a:xfrm>
            <a:off x="6949440" y="3429000"/>
            <a:ext cx="4690872" cy="2788920"/>
          </a:xfrm>
          <a:prstGeom prst="roundRect">
            <a:avLst>
              <a:gd name="adj" fmla="val 3934"/>
            </a:avLst>
          </a:prstGeom>
          <a:solidFill>
            <a:schemeClr val="bg2"/>
          </a:solidFill>
          <a:ln w="12700">
            <a:solidFill>
              <a:schemeClr val="bg2"/>
            </a:solidFill>
            <a:prstDash val="solid"/>
          </a:ln>
        </p:spPr>
      </p:sp>
      <p:sp>
        <p:nvSpPr>
          <p:cNvPr id="19" name="text-116"/>
          <p:cNvSpPr txBox="1"/>
          <p:nvPr/>
        </p:nvSpPr>
        <p:spPr>
          <a:xfrm>
            <a:off x="7178040" y="3611880"/>
            <a:ext cx="4297680" cy="365760"/>
          </a:xfrm>
          <a:prstGeom prst="rect">
            <a:avLst/>
          </a:prstGeom>
          <a:noFill/>
          <a:ln/>
        </p:spPr>
        <p:txBody>
          <a:bodyPr wrap="square" lIns="0" tIns="0" rIns="0" bIns="0" rtlCol="0" anchor="t"/>
          <a:lstStyle/>
          <a:p>
            <a:pPr indent="0" marL="0">
              <a:buNone/>
            </a:pPr>
            <a:r>
              <a:rPr lang="en-US" sz="1600" b="1" dirty="0">
                <a:solidFill>
                  <a:schemeClr val="tx1"/>
                </a:solidFill>
              </a:rPr>
              <a:t>Limitations and known failures</a:t>
            </a:r>
            <a:endParaRPr lang="en-US" sz="1600" dirty="0"/>
          </a:p>
        </p:txBody>
      </p:sp>
      <p:sp>
        <p:nvSpPr>
          <p:cNvPr id="20" name="text-117"/>
          <p:cNvSpPr txBox="1"/>
          <p:nvPr/>
        </p:nvSpPr>
        <p:spPr>
          <a:xfrm>
            <a:off x="7178040" y="4069080"/>
            <a:ext cx="4297680" cy="20574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Phone camera needs the same network until a TURN relay is added</a:t>
            </a:r>
            <a:endParaRPr lang="en-US" sz="1300" dirty="0"/>
          </a:p>
          <a:p>
            <a:pPr marL="342900" indent="-342900">
              <a:spcAft>
                <a:spcPts val="600"/>
              </a:spcAft>
              <a:buSzPct val="100000"/>
              <a:buChar char="•"/>
            </a:pPr>
            <a:r>
              <a:rPr lang="en-US" sz="1300" dirty="0">
                <a:solidFill>
                  <a:schemeClr val="tx1"/>
                </a:solidFill>
              </a:rPr>
              <a:t>Cloud voice limited to 100 requests/day (~4 interviews); then on-device voice</a:t>
            </a:r>
            <a:endParaRPr lang="en-US" sz="1300" dirty="0"/>
          </a:p>
          <a:p>
            <a:pPr marL="342900" indent="-342900">
              <a:spcAft>
                <a:spcPts val="600"/>
              </a:spcAft>
              <a:buSzPct val="100000"/>
              <a:buChar char="•"/>
            </a:pPr>
            <a:r>
              <a:rPr lang="en-US" sz="1300" dirty="0">
                <a:solidFill>
                  <a:schemeClr val="tx1"/>
                </a:solidFill>
              </a:rPr>
              <a:t>Not yet tested with real candidate cohorts, Safari or Firefox</a:t>
            </a:r>
            <a:endParaRPr lang="en-US" sz="1300" dirty="0"/>
          </a:p>
          <a:p>
            <a:pPr marL="342900" indent="-342900">
              <a:spcAft>
                <a:spcPts val="600"/>
              </a:spcAft>
              <a:buSzPct val="100000"/>
              <a:buChar char="•"/>
            </a:pPr>
            <a:r>
              <a:rPr lang="en-US" sz="1300" dirty="0">
                <a:solidFill>
                  <a:schemeClr val="tx1"/>
                </a:solidFill>
              </a:rPr>
              <a:t>Webcam gaze is approximate: flags are observations, never verdicts</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31520"/>
          </a:xfrm>
          <a:prstGeom prst="rect">
            <a:avLst/>
          </a:prstGeom>
          <a:noFill/>
          <a:ln/>
        </p:spPr>
        <p:txBody>
          <a:bodyPr wrap="square" lIns="0" tIns="0" rIns="0" bIns="0" rtlCol="0" anchor="ctr"/>
          <a:lstStyle/>
          <a:p>
            <a:pPr indent="0" marL="0">
              <a:buNone/>
            </a:pPr>
            <a:r>
              <a:rPr lang="en-US" sz="3000" b="1" dirty="0">
                <a:solidFill>
                  <a:schemeClr val="tx1"/>
                </a:solidFill>
              </a:rPr>
              <a:t>Impact and next steps</a:t>
            </a:r>
            <a:endParaRPr lang="en-US" sz="3000" dirty="0"/>
          </a:p>
        </p:txBody>
      </p:sp>
      <p:sp>
        <p:nvSpPr>
          <p:cNvPr id="3" name="card-118"/>
          <p:cNvSpPr/>
          <p:nvPr/>
        </p:nvSpPr>
        <p:spPr>
          <a:xfrm>
            <a:off x="548640" y="1371600"/>
            <a:ext cx="5486400" cy="2148840"/>
          </a:xfrm>
          <a:prstGeom prst="roundRect">
            <a:avLst>
              <a:gd name="adj" fmla="val 5106"/>
            </a:avLst>
          </a:prstGeom>
          <a:solidFill>
            <a:schemeClr val="bg2"/>
          </a:solidFill>
          <a:ln w="12700">
            <a:solidFill>
              <a:schemeClr val="bg2"/>
            </a:solidFill>
            <a:prstDash val="solid"/>
          </a:ln>
        </p:spPr>
      </p:sp>
      <p:sp>
        <p:nvSpPr>
          <p:cNvPr id="4" name="text-119"/>
          <p:cNvSpPr txBox="1"/>
          <p:nvPr/>
        </p:nvSpPr>
        <p:spPr>
          <a:xfrm>
            <a:off x="822960" y="1600200"/>
            <a:ext cx="4937760" cy="365760"/>
          </a:xfrm>
          <a:prstGeom prst="rect">
            <a:avLst/>
          </a:prstGeom>
          <a:noFill/>
          <a:ln/>
        </p:spPr>
        <p:txBody>
          <a:bodyPr wrap="square" lIns="0" tIns="0" rIns="0" bIns="0" rtlCol="0" anchor="t"/>
          <a:lstStyle/>
          <a:p>
            <a:pPr indent="0" marL="0">
              <a:buNone/>
            </a:pPr>
            <a:r>
              <a:rPr lang="en-US" sz="1800" b="1" dirty="0">
                <a:solidFill>
                  <a:schemeClr val="tx1"/>
                </a:solidFill>
              </a:rPr>
              <a:t>Expected impact</a:t>
            </a:r>
            <a:endParaRPr lang="en-US" sz="1800" dirty="0"/>
          </a:p>
        </p:txBody>
      </p:sp>
      <p:sp>
        <p:nvSpPr>
          <p:cNvPr id="5" name="text-120"/>
          <p:cNvSpPr txBox="1"/>
          <p:nvPr/>
        </p:nvSpPr>
        <p:spPr>
          <a:xfrm>
            <a:off x="822960" y="2057400"/>
            <a:ext cx="4937760" cy="1325880"/>
          </a:xfrm>
          <a:prstGeom prst="rect">
            <a:avLst/>
          </a:prstGeom>
          <a:noFill/>
          <a:ln/>
        </p:spPr>
        <p:txBody>
          <a:bodyPr wrap="square" lIns="0" tIns="0" rIns="0" bIns="0" rtlCol="0" anchor="t"/>
          <a:lstStyle/>
          <a:p>
            <a:pPr indent="0" marL="0">
              <a:buNone/>
            </a:pPr>
            <a:r>
              <a:rPr lang="en-US" sz="1400" dirty="0">
                <a:solidFill>
                  <a:schemeClr val="tx1"/>
                </a:solidFill>
              </a:rPr>
              <a:t>Recruiters review a structured, evidence-backed interview instead of running every first-round call. Scoring is consistent, and accent and appearance are never scored.</a:t>
            </a:r>
            <a:endParaRPr lang="en-US" sz="1400" dirty="0"/>
          </a:p>
        </p:txBody>
      </p:sp>
      <p:sp>
        <p:nvSpPr>
          <p:cNvPr id="6" name="card-121"/>
          <p:cNvSpPr/>
          <p:nvPr/>
        </p:nvSpPr>
        <p:spPr>
          <a:xfrm>
            <a:off x="6153912" y="1371600"/>
            <a:ext cx="5486400" cy="2148840"/>
          </a:xfrm>
          <a:prstGeom prst="roundRect">
            <a:avLst>
              <a:gd name="adj" fmla="val 5106"/>
            </a:avLst>
          </a:prstGeom>
          <a:solidFill>
            <a:schemeClr val="bg2"/>
          </a:solidFill>
          <a:ln w="12700">
            <a:solidFill>
              <a:schemeClr val="bg2"/>
            </a:solidFill>
            <a:prstDash val="solid"/>
          </a:ln>
        </p:spPr>
      </p:sp>
      <p:sp>
        <p:nvSpPr>
          <p:cNvPr id="7" name="text-122"/>
          <p:cNvSpPr txBox="1"/>
          <p:nvPr/>
        </p:nvSpPr>
        <p:spPr>
          <a:xfrm>
            <a:off x="6428232" y="1600200"/>
            <a:ext cx="4937760" cy="365760"/>
          </a:xfrm>
          <a:prstGeom prst="rect">
            <a:avLst/>
          </a:prstGeom>
          <a:noFill/>
          <a:ln/>
        </p:spPr>
        <p:txBody>
          <a:bodyPr wrap="square" lIns="0" tIns="0" rIns="0" bIns="0" rtlCol="0" anchor="t"/>
          <a:lstStyle/>
          <a:p>
            <a:pPr indent="0" marL="0">
              <a:buNone/>
            </a:pPr>
            <a:r>
              <a:rPr lang="en-US" sz="1800" b="1" dirty="0">
                <a:solidFill>
                  <a:schemeClr val="tx1"/>
                </a:solidFill>
              </a:rPr>
              <a:t>Scalability and deployment</a:t>
            </a:r>
            <a:endParaRPr lang="en-US" sz="1800" dirty="0"/>
          </a:p>
        </p:txBody>
      </p:sp>
      <p:sp>
        <p:nvSpPr>
          <p:cNvPr id="8" name="text-123"/>
          <p:cNvSpPr txBox="1"/>
          <p:nvPr/>
        </p:nvSpPr>
        <p:spPr>
          <a:xfrm>
            <a:off x="6428232" y="2057400"/>
            <a:ext cx="4937760" cy="1325880"/>
          </a:xfrm>
          <a:prstGeom prst="rect">
            <a:avLst/>
          </a:prstGeom>
          <a:noFill/>
          <a:ln/>
        </p:spPr>
        <p:txBody>
          <a:bodyPr wrap="square" lIns="0" tIns="0" rIns="0" bIns="0" rtlCol="0" anchor="t"/>
          <a:lstStyle/>
          <a:p>
            <a:pPr indent="0" marL="0">
              <a:buNone/>
            </a:pPr>
            <a:r>
              <a:rPr lang="en-US" sz="1400" dirty="0">
                <a:solidFill>
                  <a:schemeClr val="tx1"/>
                </a:solidFill>
              </a:rPr>
              <a:t>Stateless serverless backend on Vercel; heavy perception runs on the candidate's device; managed Postgres, storage and realtime.</a:t>
            </a:r>
            <a:endParaRPr lang="en-US" sz="1400" dirty="0"/>
          </a:p>
        </p:txBody>
      </p:sp>
      <p:sp>
        <p:nvSpPr>
          <p:cNvPr id="9" name="card-124"/>
          <p:cNvSpPr/>
          <p:nvPr/>
        </p:nvSpPr>
        <p:spPr>
          <a:xfrm>
            <a:off x="548640" y="3703320"/>
            <a:ext cx="5486400" cy="2148840"/>
          </a:xfrm>
          <a:prstGeom prst="roundRect">
            <a:avLst>
              <a:gd name="adj" fmla="val 5106"/>
            </a:avLst>
          </a:prstGeom>
          <a:solidFill>
            <a:schemeClr val="bg2"/>
          </a:solidFill>
          <a:ln w="12700">
            <a:solidFill>
              <a:schemeClr val="bg2"/>
            </a:solidFill>
            <a:prstDash val="solid"/>
          </a:ln>
        </p:spPr>
      </p:sp>
      <p:sp>
        <p:nvSpPr>
          <p:cNvPr id="10" name="text-125"/>
          <p:cNvSpPr txBox="1"/>
          <p:nvPr/>
        </p:nvSpPr>
        <p:spPr>
          <a:xfrm>
            <a:off x="822960" y="3931920"/>
            <a:ext cx="4937760" cy="365760"/>
          </a:xfrm>
          <a:prstGeom prst="rect">
            <a:avLst/>
          </a:prstGeom>
          <a:noFill/>
          <a:ln/>
        </p:spPr>
        <p:txBody>
          <a:bodyPr wrap="square" lIns="0" tIns="0" rIns="0" bIns="0" rtlCol="0" anchor="t"/>
          <a:lstStyle/>
          <a:p>
            <a:pPr indent="0" marL="0">
              <a:buNone/>
            </a:pPr>
            <a:r>
              <a:rPr lang="en-US" sz="1800" b="1" dirty="0">
                <a:solidFill>
                  <a:schemeClr val="tx1"/>
                </a:solidFill>
              </a:rPr>
              <a:t>Feasibility, cost and risks</a:t>
            </a:r>
            <a:endParaRPr lang="en-US" sz="1800" dirty="0"/>
          </a:p>
        </p:txBody>
      </p:sp>
      <p:sp>
        <p:nvSpPr>
          <p:cNvPr id="11" name="text-126"/>
          <p:cNvSpPr txBox="1"/>
          <p:nvPr/>
        </p:nvSpPr>
        <p:spPr>
          <a:xfrm>
            <a:off x="822960" y="4389120"/>
            <a:ext cx="4937760" cy="1325880"/>
          </a:xfrm>
          <a:prstGeom prst="rect">
            <a:avLst/>
          </a:prstGeom>
          <a:noFill/>
          <a:ln/>
        </p:spPr>
        <p:txBody>
          <a:bodyPr wrap="square" lIns="0" tIns="0" rIns="0" bIns="0" rtlCol="0" anchor="t"/>
          <a:lstStyle/>
          <a:p>
            <a:pPr indent="0" marL="0">
              <a:buNone/>
            </a:pPr>
            <a:r>
              <a:rPr lang="en-US" sz="1400" dirty="0">
                <a:solidFill>
                  <a:schemeClr val="tx1"/>
                </a:solidFill>
              </a:rPr>
              <a:t>Runs today on free tiers, using ~10–20k LLM tokens per interview (measured). Risks: false-positive flags, privacy, bias and AI-in-hiring rules, mitigated by human review, consent and private storage.</a:t>
            </a:r>
            <a:endParaRPr lang="en-US" sz="1400" dirty="0"/>
          </a:p>
        </p:txBody>
      </p:sp>
      <p:sp>
        <p:nvSpPr>
          <p:cNvPr id="12" name="card-127"/>
          <p:cNvSpPr/>
          <p:nvPr/>
        </p:nvSpPr>
        <p:spPr>
          <a:xfrm>
            <a:off x="6153912" y="3703320"/>
            <a:ext cx="5486400" cy="2148840"/>
          </a:xfrm>
          <a:prstGeom prst="roundRect">
            <a:avLst>
              <a:gd name="adj" fmla="val 5106"/>
            </a:avLst>
          </a:prstGeom>
          <a:solidFill>
            <a:schemeClr val="accent6"/>
          </a:solidFill>
          <a:ln w="12700">
            <a:solidFill>
              <a:schemeClr val="accent6"/>
            </a:solidFill>
            <a:prstDash val="solid"/>
          </a:ln>
        </p:spPr>
      </p:sp>
      <p:sp>
        <p:nvSpPr>
          <p:cNvPr id="13" name="text-128"/>
          <p:cNvSpPr txBox="1"/>
          <p:nvPr/>
        </p:nvSpPr>
        <p:spPr>
          <a:xfrm>
            <a:off x="6428232" y="3931920"/>
            <a:ext cx="4937760" cy="365760"/>
          </a:xfrm>
          <a:prstGeom prst="rect">
            <a:avLst/>
          </a:prstGeom>
          <a:noFill/>
          <a:ln/>
        </p:spPr>
        <p:txBody>
          <a:bodyPr wrap="square" lIns="0" tIns="0" rIns="0" bIns="0" rtlCol="0" anchor="t"/>
          <a:lstStyle/>
          <a:p>
            <a:pPr indent="0" marL="0">
              <a:buNone/>
            </a:pPr>
            <a:r>
              <a:rPr lang="en-US" sz="1800" b="1" dirty="0">
                <a:solidFill>
                  <a:schemeClr val="accent1"/>
                </a:solidFill>
              </a:rPr>
              <a:t>Next steps</a:t>
            </a:r>
            <a:endParaRPr lang="en-US" sz="1800" dirty="0"/>
          </a:p>
        </p:txBody>
      </p:sp>
      <p:sp>
        <p:nvSpPr>
          <p:cNvPr id="14" name="text-129"/>
          <p:cNvSpPr txBox="1"/>
          <p:nvPr/>
        </p:nvSpPr>
        <p:spPr>
          <a:xfrm>
            <a:off x="6428232" y="4389120"/>
            <a:ext cx="4937760" cy="1325880"/>
          </a:xfrm>
          <a:prstGeom prst="rect">
            <a:avLst/>
          </a:prstGeom>
          <a:noFill/>
          <a:ln/>
        </p:spPr>
        <p:txBody>
          <a:bodyPr wrap="square" lIns="0" tIns="0" rIns="0" bIns="0" rtlCol="0" anchor="t"/>
          <a:lstStyle/>
          <a:p>
            <a:pPr indent="0" marL="0">
              <a:buNone/>
            </a:pPr>
            <a:r>
              <a:rPr lang="en-US" sz="1400" dirty="0">
                <a:solidFill>
                  <a:schemeClr val="tx1"/>
                </a:solidFill>
              </a:rPr>
              <a:t>TURN relay for phones on any network · pilot with recruiting teams · ATS integrations · multilingual interviews · bias and accessibility audits.</a:t>
            </a:r>
            <a:endParaRPr lang="en-US" sz="1400" dirty="0"/>
          </a:p>
        </p:txBody>
      </p:sp>
      <p:sp>
        <p:nvSpPr>
          <p:cNvPr id="15" name="text-130"/>
          <p:cNvSpPr txBox="1"/>
          <p:nvPr/>
        </p:nvSpPr>
        <p:spPr>
          <a:xfrm>
            <a:off x="548640" y="6053328"/>
            <a:ext cx="5486400" cy="320040"/>
          </a:xfrm>
          <a:prstGeom prst="rect">
            <a:avLst/>
          </a:prstGeom>
          <a:noFill/>
          <a:ln/>
        </p:spPr>
        <p:txBody>
          <a:bodyPr wrap="square" lIns="0" tIns="0" rIns="0" bIns="0" rtlCol="0" anchor="t"/>
          <a:lstStyle/>
          <a:p>
            <a:pPr indent="0" marL="0">
              <a:buNone/>
            </a:pPr>
            <a:r>
              <a:rPr lang="en-US" sz="1400" b="1" dirty="0">
                <a:solidFill>
                  <a:schemeClr val="accent1"/>
                </a:solidFill>
              </a:rPr>
              <a:t>Try it: proctra-two.vercel.app</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Proctra">
  <a:themeElements>
    <a:clrScheme name="Proctra">
      <a:dk1>
        <a:srgbClr val="0F172A"/>
      </a:dk1>
      <a:lt1>
        <a:srgbClr val="FFFFFF"/>
      </a:lt1>
      <a:dk2>
        <a:srgbClr val="475569"/>
      </a:dk2>
      <a:lt2>
        <a:srgbClr val="F1F5F9"/>
      </a:lt2>
      <a:accent1>
        <a:srgbClr val="4F46E5"/>
      </a:accent1>
      <a:accent2>
        <a:srgbClr val="7C3AED"/>
      </a:accent2>
      <a:accent3>
        <a:srgbClr val="059669"/>
      </a:accent3>
      <a:accent4>
        <a:srgbClr val="B45309"/>
      </a:accent4>
      <a:accent5>
        <a:srgbClr val="E2E8F0"/>
      </a:accent5>
      <a:accent6>
        <a:srgbClr val="EEF2FF"/>
      </a:accent6>
      <a:hlink>
        <a:srgbClr val="4F46E5"/>
      </a:hlink>
      <a:folHlink>
        <a:srgbClr val="7C3AED"/>
      </a:folHlink>
    </a:clrScheme>
    <a:fontScheme name="Proctr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Proctra: AI interviews, human decisions</dc:title>
  <dc:subject>PptxGenJS Presentation</dc:subject>
  <dc:creator>Proctra team</dc:creator>
  <cp:lastModifiedBy>Proctra team</cp:lastModifiedBy>
  <cp:revision>1</cp:revision>
  <dcterms:created xsi:type="dcterms:W3CDTF">2026-10-25T13:53:55Z</dcterms:created>
  <dcterms:modified xsi:type="dcterms:W3CDTF">2026-10-25T13:53:55Z</dcterms:modified>
</cp:coreProperties>
</file>